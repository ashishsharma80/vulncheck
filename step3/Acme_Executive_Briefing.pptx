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0BrrWXDARHDMx4Mlh0tSyUjX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total CVE volume</c:v>
                </c:pt>
              </c:strCache>
            </c:strRef>
          </c:tx>
          <c:spPr>
            <a:solidFill>
              <a:srgbClr val="5C6A85"/>
            </a:solidFill>
            <a:effectLst/>
          </c:spPr>
          <c:invertIfNegative val="0"/>
          <c:dLbls>
            <c:numFmt formatCode="0.0&quot;%&quot;" sourceLinked="0"/>
            <c:txPr>
              <a:bodyPr/>
              <a:lstStyle/>
              <a:p>
                <a:pPr>
                  <a:defRPr b="0" i="0" strike="noStrike" sz="1000" u="none">
                    <a:solidFill>
                      <a:srgbClr val="1B2333"/>
                    </a:solidFill>
                    <a:latin typeface="Arial"/>
                  </a:defRPr>
                </a:pPr>
              </a:p>
            </c:txPr>
            <c:showLegendKey val="0"/>
            <c:showVal val="1"/>
            <c:showCatName val="0"/>
            <c:showSerName val="0"/>
            <c:showPercent val="0"/>
            <c:showBubbleSize val="0"/>
            <c:showLeaderLines val="0"/>
          </c:dLbls>
          <c:cat>
            <c:multiLvlStrRef>
              <c:f>Sheet1!$A$2:$A$3</c:f>
              <c:multiLvlStrCache>
                <c:ptCount val="2"/>
                <c:lvl>
                  <c:pt idx="0">
                    <c:v>PAN-OS</c:v>
                  </c:pt>
                  <c:pt idx="1">
                    <c:v>Windows Server</c:v>
                  </c:pt>
                </c:lvl>
              </c:multiLvlStrCache>
            </c:multiLvlStrRef>
          </c:cat>
          <c:val>
            <c:numRef>
              <c:f>Sheet1!$B$2:$B$3</c:f>
              <c:numCache>
                <c:formatCode>General</c:formatCode>
                <c:ptCount val="2"/>
                <c:pt idx="0">
                  <c:v>2.9</c:v>
                </c:pt>
                <c:pt idx="1">
                  <c:v>97.1</c:v>
                </c:pt>
              </c:numCache>
            </c:numRef>
          </c:val>
        </c:ser>
        <c:ser>
          <c:idx val="1"/>
          <c:order val="1"/>
          <c:tx>
            <c:strRef>
              <c:f>Sheet1!$C$1</c:f>
              <c:strCache>
                <c:ptCount val="1"/>
                <c:pt idx="0">
                  <c:v>Share of Ransomware/Botnet findings</c:v>
                </c:pt>
              </c:strCache>
            </c:strRef>
          </c:tx>
          <c:spPr>
            <a:solidFill>
              <a:srgbClr val="F2545B"/>
            </a:solidFill>
            <a:effectLst/>
          </c:spPr>
          <c:invertIfNegative val="0"/>
          <c:dLbls>
            <c:numFmt formatCode="0.0&quot;%&quot;" sourceLinked="0"/>
            <c:txPr>
              <a:bodyPr/>
              <a:lstStyle/>
              <a:p>
                <a:pPr>
                  <a:defRPr b="0" i="0" strike="noStrike" sz="1000" u="none">
                    <a:solidFill>
                      <a:srgbClr val="1B2333"/>
                    </a:solidFill>
                    <a:latin typeface="Arial"/>
                  </a:defRPr>
                </a:pPr>
              </a:p>
            </c:txPr>
            <c:showLegendKey val="0"/>
            <c:showVal val="1"/>
            <c:showCatName val="0"/>
            <c:showSerName val="0"/>
            <c:showPercent val="0"/>
            <c:showBubbleSize val="0"/>
            <c:showLeaderLines val="0"/>
          </c:dLbls>
          <c:cat>
            <c:multiLvlStrRef>
              <c:f>Sheet1!$A$2:$A$3</c:f>
              <c:multiLvlStrCache>
                <c:ptCount val="2"/>
                <c:lvl>
                  <c:pt idx="0">
                    <c:v>PAN-OS</c:v>
                  </c:pt>
                  <c:pt idx="1">
                    <c:v>Windows Server</c:v>
                  </c:pt>
                </c:lvl>
              </c:multiLvlStrCache>
            </c:multiLvlStrRef>
          </c:cat>
          <c:val>
            <c:numRef>
              <c:f>Sheet1!$C$2:$C$3</c:f>
              <c:numCache>
                <c:formatCode>General</c:formatCode>
                <c:ptCount val="2"/>
                <c:pt idx="0">
                  <c:v>71.4</c:v>
                </c:pt>
                <c:pt idx="1">
                  <c:v>28.6</c:v>
                </c:pt>
              </c:numCache>
            </c:numRef>
          </c:val>
        </c:ser>
        <c:dLbls>
          <c:numFmt formatCode="0.0&quot;%&quot;" sourceLinked="0"/>
          <c:txPr>
            <a:bodyPr/>
            <a:lstStyle/>
            <a:p>
              <a:pPr>
                <a:defRPr b="0" i="0" strike="noStrike" sz="1000" u="none">
                  <a:solidFill>
                    <a:srgbClr val="1B2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A8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C9D3E4"/>
                </a:solidFill>
                <a:latin typeface="Calibri"/>
              </a:defRPr>
            </a:pPr>
            <a:r>
              <a:rPr sz="1200" b="0" i="0" u="none" strike="noStrike">
                <a:solidFill>
                  <a:srgbClr val="C9D3E4"/>
                </a:solidFill>
                <a:latin typeface="Calibri"/>
              </a:rPr>
              <a:t>Coverage of Acme's confirmed-exploited CVEs</a:t>
            </a:r>
          </a:p>
        </c:rich>
      </c:tx>
      <c:layout/>
      <c:overlay val="0"/>
    </c:title>
    <c:autoTitleDeleted val="0"/>
    <c:plotArea>
      <c:layout/>
      <c:barChart>
        <c:barDir val="col"/>
        <c:grouping val="clustered"/>
        <c:varyColors val="0"/>
        <c:ser>
          <c:idx val="0"/>
          <c:order val="0"/>
          <c:tx>
            <c:strRef>
              <c:f>Sheet1!$B$1</c:f>
              <c:strCache>
                <c:ptCount val="1"/>
                <c:pt idx="0">
                  <c:v>Confirmed exploited CVEs</c:v>
                </c:pt>
              </c:strCache>
            </c:strRef>
          </c:tx>
          <c:spPr>
            <a:solidFill>
              <a:srgbClr val="4C9FF2"/>
            </a:solidFill>
            <a:effectLst/>
          </c:spPr>
          <c:invertIfNegative val="0"/>
          <c:dLbls>
            <c:numFmt formatCode="#,##0" sourceLinked="0"/>
            <c:txPr>
              <a:bodyPr/>
              <a:lstStyle/>
              <a:p>
                <a:pPr>
                  <a:defRPr b="1" i="0" strike="noStrike" sz="13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CISA KEV</c:v>
                  </c:pt>
                  <c:pt idx="1">
                    <c:v>VulnCheck KEV</c:v>
                  </c:pt>
                </c:lvl>
              </c:multiLvlStrCache>
            </c:multiLvlStrRef>
          </c:cat>
          <c:val>
            <c:numRef>
              <c:f>Sheet1!$B$2:$B$3</c:f>
              <c:numCache>
                <c:formatCode>General</c:formatCode>
                <c:ptCount val="2"/>
                <c:pt idx="0">
                  <c:v>23</c:v>
                </c:pt>
                <c:pt idx="1">
                  <c:v>28</c:v>
                </c:pt>
              </c:numCache>
            </c:numRef>
          </c:val>
        </c:ser>
        <c:dLbls>
          <c:numFmt formatCode="#,##0" sourceLinked="0"/>
          <c:txPr>
            <a:bodyPr/>
            <a:lstStyle/>
            <a:p>
              <a:pPr>
                <a:defRPr b="1" i="0" strike="noStrike" sz="13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9D3E4"/>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1220"/>
        </a:solidFill>
        <a:ln>
          <a:noFill/>
        </a:ln>
        <a:effectLst/>
      </c:spPr>
    </c:plotArea>
    <c:plotVisOnly val="1"/>
    <c:dispBlanksAs val="span"/>
  </c:chart>
  <c:spPr>
    <a:solidFill>
      <a:srgbClr val="0B122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assets in scope: PAN-OS 11.2.4, WebIQ 2.15.9, Ivanti VTM 22.7, Windows Server 2025. Enriched via VulnCheck CPE, NVD2, and Exploits/KEV indices. This is the real Step 1 dataset, not illustrative numbers.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Lead with scale (1,332), then narrow to what actually matters (987 high/critical, 28 confirmed exploited), then land on the standout: 5 confirmed-exploited CVEs a CISA-KEV-only process would never have surfaced. That's the thread for the rest of the deck.</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1,250 of 1,332 sit in 'All Other' — the model's job is precisely to filter noise like this out. 82 CVEs across the top six tiers is the real, actionable remediation backlog.</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single most useful chart in the deck for a CISO: it reframes the conversation from 'we have 1,332 vulnerabilities' (unpatchable in any reasonable timeframe) to 'we have one small, disproportionately dangerous asset class.' Patch cadence discipline on Windows Server still matters for the volume side, but PAN-OS is the urgent conversation.</a:t>
            </a:r>
            <a:endParaRPr/>
          </a:p>
        </p:txBody>
      </p:sp>
      <p:sp>
        <p:nvSpPr>
          <p:cNvPr id="78" name="Google Shape;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Sequencing note: steps 1, 2, and 4 are all PAN-OS — same maintenance window if at all possible. Step 5 is the fastest win: single asset, single CVE, no dependency chain.</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Pivot slide. The chart is proof; the three panels are the value translation. On the 14-day stat: VulnCheck's KEV date-added for CVE-2026-32202 is the same day as NVD publication — flagged on day zero, not after external confirmation. That's a strong, defensible number to repeat if asked to justify it.</a:t>
            </a:r>
            <a:endParaRPr/>
          </a:p>
        </p:txBody>
      </p:sp>
      <p:sp>
        <p:nvSpPr>
          <p:cNvPr id="126" name="Google Shape;1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technical thread with a business one: this isn't a one-off report, it's the shape of an ongoing engagement.</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the panel and invite questions — good place to offer to walk through the live dashboard if there's time.</a:t>
            </a:r>
            <a:endParaRPr/>
          </a:p>
        </p:txBody>
      </p:sp>
      <p:sp>
        <p:nvSpPr>
          <p:cNvPr id="170" name="Google Shape;17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5" name="Shape 15"/>
        <p:cNvGrpSpPr/>
        <p:nvPr/>
      </p:nvGrpSpPr>
      <p:grpSpPr>
        <a:xfrm>
          <a:off x="0" y="0"/>
          <a:ext cx="0" cy="0"/>
          <a:chOff x="0" y="0"/>
          <a:chExt cx="0" cy="0"/>
        </a:xfrm>
      </p:grpSpPr>
      <p:sp>
        <p:nvSpPr>
          <p:cNvPr id="16" name="Google Shape;16;p1"/>
          <p:cNvSpPr/>
          <p:nvPr/>
        </p:nvSpPr>
        <p:spPr>
          <a:xfrm>
            <a:off x="640080" y="68580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1200"/>
              <a:buFont typeface="Calibri"/>
              <a:buNone/>
            </a:pPr>
            <a:r>
              <a:rPr b="1" i="0" lang="en-US" sz="1200" u="none" cap="none" strike="noStrike">
                <a:solidFill>
                  <a:srgbClr val="27D3A6"/>
                </a:solidFill>
                <a:latin typeface="Calibri"/>
                <a:ea typeface="Calibri"/>
                <a:cs typeface="Calibri"/>
                <a:sym typeface="Calibri"/>
              </a:rPr>
              <a:t>ACME FINANCIAL SERVICES</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640080" y="2651760"/>
            <a:ext cx="10515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Vulnerability Prioritization Briefing</a:t>
            </a:r>
            <a:endParaRPr b="0" i="0" sz="4200" u="none" cap="none" strike="noStrike">
              <a:solidFill>
                <a:schemeClr val="dk1"/>
              </a:solidFill>
              <a:latin typeface="Calibri"/>
              <a:ea typeface="Calibri"/>
              <a:cs typeface="Calibri"/>
              <a:sym typeface="Calibri"/>
            </a:endParaRPr>
          </a:p>
        </p:txBody>
      </p:sp>
      <p:sp>
        <p:nvSpPr>
          <p:cNvPr id="18" name="Google Shape;18;p1"/>
          <p:cNvSpPr/>
          <p:nvPr/>
        </p:nvSpPr>
        <p:spPr>
          <a:xfrm>
            <a:off x="640080" y="3703320"/>
            <a:ext cx="9601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600"/>
              <a:buFont typeface="Calibri"/>
              <a:buNone/>
            </a:pPr>
            <a:r>
              <a:rPr b="0" i="0" lang="en-US" sz="1600" u="none" cap="none" strike="noStrike">
                <a:solidFill>
                  <a:srgbClr val="C9D3E4"/>
                </a:solidFill>
                <a:latin typeface="Calibri"/>
                <a:ea typeface="Calibri"/>
                <a:cs typeface="Calibri"/>
                <a:sym typeface="Calibri"/>
              </a:rPr>
              <a:t>Evidence-based remediation priorities, built on VulnCheck Exploit &amp; Vulnerability Intelligence</a:t>
            </a:r>
            <a:endParaRPr b="0" i="0" sz="1600" u="none" cap="none" strike="noStrike">
              <a:solidFill>
                <a:schemeClr val="dk1"/>
              </a:solidFill>
              <a:latin typeface="Calibri"/>
              <a:ea typeface="Calibri"/>
              <a:cs typeface="Calibri"/>
              <a:sym typeface="Calibri"/>
            </a:endParaRPr>
          </a:p>
        </p:txBody>
      </p:sp>
      <p:cxnSp>
        <p:nvCxnSpPr>
          <p:cNvPr id="19" name="Google Shape;19;p1"/>
          <p:cNvCxnSpPr/>
          <p:nvPr/>
        </p:nvCxnSpPr>
        <p:spPr>
          <a:xfrm>
            <a:off x="640080" y="5989320"/>
            <a:ext cx="10881360" cy="0"/>
          </a:xfrm>
          <a:prstGeom prst="straightConnector1">
            <a:avLst/>
          </a:prstGeom>
          <a:noFill/>
          <a:ln cap="flat" cmpd="sng" w="12700">
            <a:solidFill>
              <a:srgbClr val="1A2438"/>
            </a:solidFill>
            <a:prstDash val="solid"/>
            <a:round/>
            <a:headEnd len="sm" w="sm" type="none"/>
            <a:tailEnd len="sm" w="sm" type="none"/>
          </a:ln>
        </p:spPr>
      </p:cxnSp>
      <p:sp>
        <p:nvSpPr>
          <p:cNvPr id="20" name="Google Shape;20;p1"/>
          <p:cNvSpPr/>
          <p:nvPr/>
        </p:nvSpPr>
        <p:spPr>
          <a:xfrm>
            <a:off x="640080" y="612648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6B0"/>
              </a:buClr>
              <a:buSzPts val="1100"/>
              <a:buFont typeface="Calibri"/>
              <a:buNone/>
            </a:pPr>
            <a:r>
              <a:rPr b="0" i="0" lang="en-US" sz="1100" u="none" cap="none" strike="noStrike">
                <a:solidFill>
                  <a:srgbClr val="8996B0"/>
                </a:solidFill>
                <a:latin typeface="Calibri"/>
                <a:ea typeface="Calibri"/>
                <a:cs typeface="Calibri"/>
                <a:sym typeface="Calibri"/>
              </a:rPr>
              <a:t>Prepared for: CISO &amp; Security Leadership</a:t>
            </a:r>
            <a:endParaRPr b="0" i="0" sz="1100" u="none" cap="none" strike="noStrike">
              <a:solidFill>
                <a:schemeClr val="dk1"/>
              </a:solidFill>
              <a:latin typeface="Calibri"/>
              <a:ea typeface="Calibri"/>
              <a:cs typeface="Calibri"/>
              <a:sym typeface="Calibri"/>
            </a:endParaRPr>
          </a:p>
        </p:txBody>
      </p:sp>
      <p:sp>
        <p:nvSpPr>
          <p:cNvPr id="21" name="Google Shape;21;p1"/>
          <p:cNvSpPr/>
          <p:nvPr/>
        </p:nvSpPr>
        <p:spPr>
          <a:xfrm>
            <a:off x="6309360" y="6126480"/>
            <a:ext cx="52120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996B0"/>
              </a:buClr>
              <a:buSzPts val="1100"/>
              <a:buFont typeface="Calibri"/>
              <a:buNone/>
            </a:pPr>
            <a:r>
              <a:rPr b="0" i="0" lang="en-US" sz="1100" u="none" cap="none" strike="noStrike">
                <a:solidFill>
                  <a:srgbClr val="8996B0"/>
                </a:solidFill>
                <a:latin typeface="Calibri"/>
                <a:ea typeface="Calibri"/>
                <a:cs typeface="Calibri"/>
                <a:sym typeface="Calibri"/>
              </a:rPr>
              <a:t>Presented by: </a:t>
            </a:r>
            <a:r>
              <a:rPr lang="en-US" sz="1100">
                <a:solidFill>
                  <a:srgbClr val="8996B0"/>
                </a:solidFill>
                <a:latin typeface="Calibri"/>
                <a:ea typeface="Calibri"/>
                <a:cs typeface="Calibri"/>
                <a:sym typeface="Calibri"/>
              </a:rPr>
              <a:t>Ashish Sharma</a:t>
            </a:r>
            <a:r>
              <a:rPr b="0" i="0" lang="en-US" sz="1100" u="none" cap="none" strike="noStrike">
                <a:solidFill>
                  <a:srgbClr val="8996B0"/>
                </a:solidFill>
                <a:latin typeface="Calibri"/>
                <a:ea typeface="Calibri"/>
                <a:cs typeface="Calibri"/>
                <a:sym typeface="Calibri"/>
              </a:rPr>
              <a:t> VulnCheck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6" name="Shape 26"/>
        <p:cNvGrpSpPr/>
        <p:nvPr/>
      </p:nvGrpSpPr>
      <p:grpSpPr>
        <a:xfrm>
          <a:off x="0" y="0"/>
          <a:ext cx="0" cy="0"/>
          <a:chOff x="0" y="0"/>
          <a:chExt cx="0" cy="0"/>
        </a:xfrm>
      </p:grpSpPr>
      <p:sp>
        <p:nvSpPr>
          <p:cNvPr id="27" name="Google Shape;27;p2"/>
          <p:cNvSpPr/>
          <p:nvPr/>
        </p:nvSpPr>
        <p:spPr>
          <a:xfrm>
            <a:off x="640080" y="5029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1200"/>
              <a:buFont typeface="Calibri"/>
              <a:buNone/>
            </a:pPr>
            <a:r>
              <a:rPr b="1" i="0" lang="en-US" sz="1200" u="none" cap="none" strike="noStrike">
                <a:solidFill>
                  <a:srgbClr val="27D3A6"/>
                </a:solidFill>
                <a:latin typeface="Calibri"/>
                <a:ea typeface="Calibri"/>
                <a:cs typeface="Calibri"/>
                <a:sym typeface="Calibri"/>
              </a:rPr>
              <a:t>WHAT WE FOUND</a:t>
            </a:r>
            <a:endParaRPr b="0" i="0" sz="1200" u="none" cap="none" strike="noStrike">
              <a:solidFill>
                <a:schemeClr val="dk1"/>
              </a:solidFill>
              <a:latin typeface="Calibri"/>
              <a:ea typeface="Calibri"/>
              <a:cs typeface="Calibri"/>
              <a:sym typeface="Calibri"/>
            </a:endParaRPr>
          </a:p>
        </p:txBody>
      </p:sp>
      <p:sp>
        <p:nvSpPr>
          <p:cNvPr id="28" name="Google Shape;28;p2"/>
          <p:cNvSpPr/>
          <p:nvPr/>
        </p:nvSpPr>
        <p:spPr>
          <a:xfrm>
            <a:off x="640080" y="82296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1,332 CVEs analyzed across four assets</a:t>
            </a:r>
            <a:endParaRPr b="0" i="0" sz="2800" u="none" cap="none" strike="noStrike">
              <a:solidFill>
                <a:schemeClr val="dk1"/>
              </a:solidFill>
              <a:latin typeface="Calibri"/>
              <a:ea typeface="Calibri"/>
              <a:cs typeface="Calibri"/>
              <a:sym typeface="Calibri"/>
            </a:endParaRPr>
          </a:p>
        </p:txBody>
      </p:sp>
      <p:sp>
        <p:nvSpPr>
          <p:cNvPr id="29" name="Google Shape;29;p2"/>
          <p:cNvSpPr/>
          <p:nvPr/>
        </p:nvSpPr>
        <p:spPr>
          <a:xfrm>
            <a:off x="640080" y="1965960"/>
            <a:ext cx="2514600" cy="2286000"/>
          </a:xfrm>
          <a:prstGeom prst="roundRect">
            <a:avLst>
              <a:gd fmla="val 3200" name="adj"/>
            </a:avLst>
          </a:prstGeom>
          <a:solidFill>
            <a:srgbClr val="141C2E"/>
          </a:solidFill>
          <a:ln cap="flat" cmpd="sng" w="12700">
            <a:solidFill>
              <a:srgbClr val="1A24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822960" y="2240280"/>
            <a:ext cx="2148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1,332</a:t>
            </a:r>
            <a:endParaRPr b="0" i="0" sz="4000" u="none" cap="none" strike="noStrike">
              <a:solidFill>
                <a:schemeClr val="dk1"/>
              </a:solidFill>
              <a:latin typeface="Calibri"/>
              <a:ea typeface="Calibri"/>
              <a:cs typeface="Calibri"/>
              <a:sym typeface="Calibri"/>
            </a:endParaRPr>
          </a:p>
        </p:txBody>
      </p:sp>
      <p:sp>
        <p:nvSpPr>
          <p:cNvPr id="31" name="Google Shape;31;p2"/>
          <p:cNvSpPr/>
          <p:nvPr/>
        </p:nvSpPr>
        <p:spPr>
          <a:xfrm>
            <a:off x="822960" y="3200400"/>
            <a:ext cx="2148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300"/>
              <a:buFont typeface="Calibri"/>
              <a:buNone/>
            </a:pPr>
            <a:r>
              <a:rPr b="1" i="0" lang="en-US" sz="1300" u="none" cap="none" strike="noStrike">
                <a:solidFill>
                  <a:srgbClr val="C9D3E4"/>
                </a:solidFill>
                <a:latin typeface="Calibri"/>
                <a:ea typeface="Calibri"/>
                <a:cs typeface="Calibri"/>
                <a:sym typeface="Calibri"/>
              </a:rPr>
              <a:t>CVEs analyzed</a:t>
            </a:r>
            <a:endParaRPr b="0" i="0" sz="1300" u="none" cap="none" strike="noStrike">
              <a:solidFill>
                <a:schemeClr val="dk1"/>
              </a:solidFill>
              <a:latin typeface="Calibri"/>
              <a:ea typeface="Calibri"/>
              <a:cs typeface="Calibri"/>
              <a:sym typeface="Calibri"/>
            </a:endParaRPr>
          </a:p>
        </p:txBody>
      </p:sp>
      <p:sp>
        <p:nvSpPr>
          <p:cNvPr id="32" name="Google Shape;32;p2"/>
          <p:cNvSpPr/>
          <p:nvPr/>
        </p:nvSpPr>
        <p:spPr>
          <a:xfrm>
            <a:off x="822960" y="3657600"/>
            <a:ext cx="2148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6B0"/>
              </a:buClr>
              <a:buSzPts val="1050"/>
              <a:buFont typeface="Calibri"/>
              <a:buNone/>
            </a:pPr>
            <a:r>
              <a:rPr b="0" i="0" lang="en-US" sz="1050" u="none" cap="none" strike="noStrike">
                <a:solidFill>
                  <a:srgbClr val="8996B0"/>
                </a:solidFill>
                <a:latin typeface="Calibri"/>
                <a:ea typeface="Calibri"/>
                <a:cs typeface="Calibri"/>
                <a:sym typeface="Calibri"/>
              </a:rPr>
              <a:t>PAN-OS · WebIQ · Ivanti VTM · Windows Server</a:t>
            </a:r>
            <a:endParaRPr b="0" i="0" sz="1050" u="none" cap="none" strike="noStrike">
              <a:solidFill>
                <a:schemeClr val="dk1"/>
              </a:solidFill>
              <a:latin typeface="Calibri"/>
              <a:ea typeface="Calibri"/>
              <a:cs typeface="Calibri"/>
              <a:sym typeface="Calibri"/>
            </a:endParaRPr>
          </a:p>
        </p:txBody>
      </p:sp>
      <p:sp>
        <p:nvSpPr>
          <p:cNvPr id="33" name="Google Shape;33;p2"/>
          <p:cNvSpPr/>
          <p:nvPr/>
        </p:nvSpPr>
        <p:spPr>
          <a:xfrm>
            <a:off x="3383280" y="1965960"/>
            <a:ext cx="2514600" cy="2286000"/>
          </a:xfrm>
          <a:prstGeom prst="roundRect">
            <a:avLst>
              <a:gd fmla="val 3200" name="adj"/>
            </a:avLst>
          </a:prstGeom>
          <a:solidFill>
            <a:srgbClr val="141C2E"/>
          </a:solidFill>
          <a:ln cap="flat" cmpd="sng" w="12700">
            <a:solidFill>
              <a:srgbClr val="1A24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566160" y="2240280"/>
            <a:ext cx="2148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987</a:t>
            </a:r>
            <a:endParaRPr b="0" i="0" sz="4000" u="none" cap="none" strike="noStrike">
              <a:solidFill>
                <a:schemeClr val="dk1"/>
              </a:solidFill>
              <a:latin typeface="Calibri"/>
              <a:ea typeface="Calibri"/>
              <a:cs typeface="Calibri"/>
              <a:sym typeface="Calibri"/>
            </a:endParaRPr>
          </a:p>
        </p:txBody>
      </p:sp>
      <p:sp>
        <p:nvSpPr>
          <p:cNvPr id="35" name="Google Shape;35;p2"/>
          <p:cNvSpPr/>
          <p:nvPr/>
        </p:nvSpPr>
        <p:spPr>
          <a:xfrm>
            <a:off x="3566160" y="3200400"/>
            <a:ext cx="2148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300"/>
              <a:buFont typeface="Calibri"/>
              <a:buNone/>
            </a:pPr>
            <a:r>
              <a:rPr b="1" i="0" lang="en-US" sz="1300" u="none" cap="none" strike="noStrike">
                <a:solidFill>
                  <a:srgbClr val="C9D3E4"/>
                </a:solidFill>
                <a:latin typeface="Calibri"/>
                <a:ea typeface="Calibri"/>
                <a:cs typeface="Calibri"/>
                <a:sym typeface="Calibri"/>
              </a:rPr>
              <a:t>High or Critical</a:t>
            </a:r>
            <a:endParaRPr b="0" i="0" sz="1300" u="none" cap="none" strike="noStrike">
              <a:solidFill>
                <a:schemeClr val="dk1"/>
              </a:solidFill>
              <a:latin typeface="Calibri"/>
              <a:ea typeface="Calibri"/>
              <a:cs typeface="Calibri"/>
              <a:sym typeface="Calibri"/>
            </a:endParaRPr>
          </a:p>
        </p:txBody>
      </p:sp>
      <p:sp>
        <p:nvSpPr>
          <p:cNvPr id="36" name="Google Shape;36;p2"/>
          <p:cNvSpPr/>
          <p:nvPr/>
        </p:nvSpPr>
        <p:spPr>
          <a:xfrm>
            <a:off x="3566160" y="3657600"/>
            <a:ext cx="2148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6B0"/>
              </a:buClr>
              <a:buSzPts val="1050"/>
              <a:buFont typeface="Calibri"/>
              <a:buNone/>
            </a:pPr>
            <a:r>
              <a:rPr b="0" i="0" lang="en-US" sz="1050" u="none" cap="none" strike="noStrike">
                <a:solidFill>
                  <a:srgbClr val="8996B0"/>
                </a:solidFill>
                <a:latin typeface="Calibri"/>
                <a:ea typeface="Calibri"/>
                <a:cs typeface="Calibri"/>
                <a:sym typeface="Calibri"/>
              </a:rPr>
              <a:t>CVSS 7.0 and above</a:t>
            </a:r>
            <a:endParaRPr b="0" i="0" sz="1050" u="none" cap="none" strike="noStrike">
              <a:solidFill>
                <a:schemeClr val="dk1"/>
              </a:solidFill>
              <a:latin typeface="Calibri"/>
              <a:ea typeface="Calibri"/>
              <a:cs typeface="Calibri"/>
              <a:sym typeface="Calibri"/>
            </a:endParaRPr>
          </a:p>
        </p:txBody>
      </p:sp>
      <p:sp>
        <p:nvSpPr>
          <p:cNvPr id="37" name="Google Shape;37;p2"/>
          <p:cNvSpPr/>
          <p:nvPr/>
        </p:nvSpPr>
        <p:spPr>
          <a:xfrm>
            <a:off x="6126480" y="1965960"/>
            <a:ext cx="2514600" cy="2286000"/>
          </a:xfrm>
          <a:prstGeom prst="roundRect">
            <a:avLst>
              <a:gd fmla="val 3200" name="adj"/>
            </a:avLst>
          </a:prstGeom>
          <a:solidFill>
            <a:srgbClr val="141C2E"/>
          </a:solidFill>
          <a:ln cap="flat" cmpd="sng" w="12700">
            <a:solidFill>
              <a:srgbClr val="1A24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309360" y="2240280"/>
            <a:ext cx="2148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28</a:t>
            </a:r>
            <a:endParaRPr b="0" i="0" sz="4000" u="none" cap="none" strike="noStrike">
              <a:solidFill>
                <a:schemeClr val="dk1"/>
              </a:solidFill>
              <a:latin typeface="Calibri"/>
              <a:ea typeface="Calibri"/>
              <a:cs typeface="Calibri"/>
              <a:sym typeface="Calibri"/>
            </a:endParaRPr>
          </a:p>
        </p:txBody>
      </p:sp>
      <p:sp>
        <p:nvSpPr>
          <p:cNvPr id="39" name="Google Shape;39;p2"/>
          <p:cNvSpPr/>
          <p:nvPr/>
        </p:nvSpPr>
        <p:spPr>
          <a:xfrm>
            <a:off x="6309360" y="3200400"/>
            <a:ext cx="2148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300"/>
              <a:buFont typeface="Calibri"/>
              <a:buNone/>
            </a:pPr>
            <a:r>
              <a:rPr b="1" i="0" lang="en-US" sz="1300" u="none" cap="none" strike="noStrike">
                <a:solidFill>
                  <a:srgbClr val="C9D3E4"/>
                </a:solidFill>
                <a:latin typeface="Calibri"/>
                <a:ea typeface="Calibri"/>
                <a:cs typeface="Calibri"/>
                <a:sym typeface="Calibri"/>
              </a:rPr>
              <a:t>Confirmed actively exploited</a:t>
            </a:r>
            <a:endParaRPr b="0" i="0" sz="1300" u="none" cap="none" strike="noStrike">
              <a:solidFill>
                <a:schemeClr val="dk1"/>
              </a:solidFill>
              <a:latin typeface="Calibri"/>
              <a:ea typeface="Calibri"/>
              <a:cs typeface="Calibri"/>
              <a:sym typeface="Calibri"/>
            </a:endParaRPr>
          </a:p>
        </p:txBody>
      </p:sp>
      <p:sp>
        <p:nvSpPr>
          <p:cNvPr id="40" name="Google Shape;40;p2"/>
          <p:cNvSpPr/>
          <p:nvPr/>
        </p:nvSpPr>
        <p:spPr>
          <a:xfrm>
            <a:off x="6309360" y="3657600"/>
            <a:ext cx="2148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6B0"/>
              </a:buClr>
              <a:buSzPts val="1050"/>
              <a:buFont typeface="Calibri"/>
              <a:buNone/>
            </a:pPr>
            <a:r>
              <a:rPr b="0" i="0" lang="en-US" sz="1050" u="none" cap="none" strike="noStrike">
                <a:solidFill>
                  <a:srgbClr val="8996B0"/>
                </a:solidFill>
                <a:latin typeface="Calibri"/>
                <a:ea typeface="Calibri"/>
                <a:cs typeface="Calibri"/>
                <a:sym typeface="Calibri"/>
              </a:rPr>
              <a:t>VulnCheck KEV</a:t>
            </a:r>
            <a:endParaRPr b="0" i="0" sz="1050" u="none" cap="none" strike="noStrike">
              <a:solidFill>
                <a:schemeClr val="dk1"/>
              </a:solidFill>
              <a:latin typeface="Calibri"/>
              <a:ea typeface="Calibri"/>
              <a:cs typeface="Calibri"/>
              <a:sym typeface="Calibri"/>
            </a:endParaRPr>
          </a:p>
        </p:txBody>
      </p:sp>
      <p:sp>
        <p:nvSpPr>
          <p:cNvPr id="41" name="Google Shape;41;p2"/>
          <p:cNvSpPr/>
          <p:nvPr/>
        </p:nvSpPr>
        <p:spPr>
          <a:xfrm>
            <a:off x="8869680" y="1965960"/>
            <a:ext cx="2514600" cy="2286000"/>
          </a:xfrm>
          <a:prstGeom prst="roundRect">
            <a:avLst>
              <a:gd fmla="val 3200" name="adj"/>
            </a:avLst>
          </a:prstGeom>
          <a:solidFill>
            <a:srgbClr val="0F2A24"/>
          </a:solidFill>
          <a:ln cap="flat" cmpd="sng" w="12700">
            <a:solidFill>
              <a:srgbClr val="1B7A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9052560" y="2240280"/>
            <a:ext cx="2148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4000"/>
              <a:buFont typeface="Cambria"/>
              <a:buNone/>
            </a:pPr>
            <a:r>
              <a:rPr b="1" i="0" lang="en-US" sz="4000" u="none" cap="none" strike="noStrike">
                <a:solidFill>
                  <a:srgbClr val="27D3A6"/>
                </a:solidFill>
                <a:latin typeface="Cambria"/>
                <a:ea typeface="Cambria"/>
                <a:cs typeface="Cambria"/>
                <a:sym typeface="Cambria"/>
              </a:rPr>
              <a:t>5</a:t>
            </a:r>
            <a:endParaRPr b="0" i="0" sz="4000" u="none" cap="none" strike="noStrike">
              <a:solidFill>
                <a:schemeClr val="dk1"/>
              </a:solidFill>
              <a:latin typeface="Calibri"/>
              <a:ea typeface="Calibri"/>
              <a:cs typeface="Calibri"/>
              <a:sym typeface="Calibri"/>
            </a:endParaRPr>
          </a:p>
        </p:txBody>
      </p:sp>
      <p:sp>
        <p:nvSpPr>
          <p:cNvPr id="43" name="Google Shape;43;p2"/>
          <p:cNvSpPr/>
          <p:nvPr/>
        </p:nvSpPr>
        <p:spPr>
          <a:xfrm>
            <a:off x="9052560" y="3200400"/>
            <a:ext cx="2148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300"/>
              <a:buFont typeface="Calibri"/>
              <a:buNone/>
            </a:pPr>
            <a:r>
              <a:rPr b="1" i="0" lang="en-US" sz="1300" u="none" cap="none" strike="noStrike">
                <a:solidFill>
                  <a:srgbClr val="C9D3E4"/>
                </a:solidFill>
                <a:latin typeface="Calibri"/>
                <a:ea typeface="Calibri"/>
                <a:cs typeface="Calibri"/>
                <a:sym typeface="Calibri"/>
              </a:rPr>
              <a:t>Fully missed by CISA KEV</a:t>
            </a:r>
            <a:endParaRPr b="0" i="0" sz="1300" u="none" cap="none" strike="noStrike">
              <a:solidFill>
                <a:schemeClr val="dk1"/>
              </a:solidFill>
              <a:latin typeface="Calibri"/>
              <a:ea typeface="Calibri"/>
              <a:cs typeface="Calibri"/>
              <a:sym typeface="Calibri"/>
            </a:endParaRPr>
          </a:p>
        </p:txBody>
      </p:sp>
      <p:sp>
        <p:nvSpPr>
          <p:cNvPr id="44" name="Google Shape;44;p2"/>
          <p:cNvSpPr/>
          <p:nvPr/>
        </p:nvSpPr>
        <p:spPr>
          <a:xfrm>
            <a:off x="9052560" y="3657600"/>
            <a:ext cx="2148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6B0"/>
              </a:buClr>
              <a:buSzPts val="1050"/>
              <a:buFont typeface="Calibri"/>
              <a:buNone/>
            </a:pPr>
            <a:r>
              <a:rPr b="0" i="0" lang="en-US" sz="1050" u="none" cap="none" strike="noStrike">
                <a:solidFill>
                  <a:srgbClr val="8996B0"/>
                </a:solidFill>
                <a:latin typeface="Calibri"/>
                <a:ea typeface="Calibri"/>
                <a:cs typeface="Calibri"/>
                <a:sym typeface="Calibri"/>
              </a:rPr>
              <a:t>Zero visibility without VulnCheck</a:t>
            </a:r>
            <a:endParaRPr b="0" i="0" sz="1050" u="none" cap="none" strike="noStrike">
              <a:solidFill>
                <a:schemeClr val="dk1"/>
              </a:solidFill>
              <a:latin typeface="Calibri"/>
              <a:ea typeface="Calibri"/>
              <a:cs typeface="Calibri"/>
              <a:sym typeface="Calibri"/>
            </a:endParaRPr>
          </a:p>
        </p:txBody>
      </p:sp>
      <p:sp>
        <p:nvSpPr>
          <p:cNvPr id="45" name="Google Shape;45;p2"/>
          <p:cNvSpPr/>
          <p:nvPr/>
        </p:nvSpPr>
        <p:spPr>
          <a:xfrm>
            <a:off x="640080" y="466344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6B0"/>
              </a:buClr>
              <a:buSzPts val="1050"/>
              <a:buFont typeface="Calibri"/>
              <a:buNone/>
            </a:pPr>
            <a:r>
              <a:rPr b="0" i="1" lang="en-US" sz="1050" u="none" cap="none" strike="noStrike">
                <a:solidFill>
                  <a:srgbClr val="8996B0"/>
                </a:solidFill>
                <a:latin typeface="Calibri"/>
                <a:ea typeface="Calibri"/>
                <a:cs typeface="Calibri"/>
                <a:sym typeface="Calibri"/>
              </a:rPr>
              <a:t>Windows Server 2025 accounts for 1,293 of the 1,332 CVEs (97%); PAN-OS 38; WebIQ 1; Ivanti VTM 22.7 (r1) returned zero matched CVEs in this analysis.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50" name="Shape 50"/>
        <p:cNvGrpSpPr/>
        <p:nvPr/>
      </p:nvGrpSpPr>
      <p:grpSpPr>
        <a:xfrm>
          <a:off x="0" y="0"/>
          <a:ext cx="0" cy="0"/>
          <a:chOff x="0" y="0"/>
          <a:chExt cx="0" cy="0"/>
        </a:xfrm>
      </p:grpSpPr>
      <p:sp>
        <p:nvSpPr>
          <p:cNvPr id="51" name="Google Shape;51;p3"/>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1200"/>
              <a:buFont typeface="Calibri"/>
              <a:buNone/>
            </a:pPr>
            <a:r>
              <a:rPr b="1" i="0" lang="en-US" sz="1200" u="none" cap="none" strike="noStrike">
                <a:solidFill>
                  <a:srgbClr val="27D3A6"/>
                </a:solidFill>
                <a:latin typeface="Calibri"/>
                <a:ea typeface="Calibri"/>
                <a:cs typeface="Calibri"/>
                <a:sym typeface="Calibri"/>
              </a:rPr>
              <a:t>PRIORITIZATION MODEL</a:t>
            </a:r>
            <a:endParaRPr b="0" i="0" sz="1200" u="none" cap="none" strike="noStrike">
              <a:solidFill>
                <a:schemeClr val="dk1"/>
              </a:solidFill>
              <a:latin typeface="Calibri"/>
              <a:ea typeface="Calibri"/>
              <a:cs typeface="Calibri"/>
              <a:sym typeface="Calibri"/>
            </a:endParaRPr>
          </a:p>
        </p:txBody>
      </p:sp>
      <p:sp>
        <p:nvSpPr>
          <p:cNvPr id="52" name="Google Shape;52;p3"/>
          <p:cNvSpPr/>
          <p:nvPr/>
        </p:nvSpPr>
        <p:spPr>
          <a:xfrm>
            <a:off x="640080" y="777240"/>
            <a:ext cx="10515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Where Acme's risk sits on the pyramid</a:t>
            </a:r>
            <a:endParaRPr b="0" i="0" sz="2600" u="none" cap="none" strike="noStrike">
              <a:solidFill>
                <a:schemeClr val="dk1"/>
              </a:solidFill>
              <a:latin typeface="Calibri"/>
              <a:ea typeface="Calibri"/>
              <a:cs typeface="Calibri"/>
              <a:sym typeface="Calibri"/>
            </a:endParaRPr>
          </a:p>
        </p:txBody>
      </p:sp>
      <p:sp>
        <p:nvSpPr>
          <p:cNvPr id="53" name="Google Shape;53;p3"/>
          <p:cNvSpPr/>
          <p:nvPr/>
        </p:nvSpPr>
        <p:spPr>
          <a:xfrm>
            <a:off x="4526280" y="1600200"/>
            <a:ext cx="3108960" cy="493776"/>
          </a:xfrm>
          <a:prstGeom prst="roundRect">
            <a:avLst>
              <a:gd fmla="val 9259" name="adj"/>
            </a:avLst>
          </a:prstGeom>
          <a:solidFill>
            <a:srgbClr val="F25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4754880" y="1600200"/>
            <a:ext cx="201168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Ransomware</a:t>
            </a:r>
            <a:endParaRPr b="0" i="0" sz="1300" u="none" cap="none" strike="noStrike">
              <a:solidFill>
                <a:schemeClr val="dk1"/>
              </a:solidFill>
              <a:latin typeface="Calibri"/>
              <a:ea typeface="Calibri"/>
              <a:cs typeface="Calibri"/>
              <a:sym typeface="Calibri"/>
            </a:endParaRPr>
          </a:p>
        </p:txBody>
      </p:sp>
      <p:sp>
        <p:nvSpPr>
          <p:cNvPr id="55" name="Google Shape;55;p3"/>
          <p:cNvSpPr/>
          <p:nvPr/>
        </p:nvSpPr>
        <p:spPr>
          <a:xfrm>
            <a:off x="6812280" y="1600200"/>
            <a:ext cx="594360" cy="4937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56" name="Google Shape;56;p3"/>
          <p:cNvSpPr/>
          <p:nvPr/>
        </p:nvSpPr>
        <p:spPr>
          <a:xfrm>
            <a:off x="4206240" y="2167128"/>
            <a:ext cx="3749040" cy="493776"/>
          </a:xfrm>
          <a:prstGeom prst="roundRect">
            <a:avLst>
              <a:gd fmla="val 9259" name="adj"/>
            </a:avLst>
          </a:prstGeom>
          <a:solidFill>
            <a:srgbClr val="F5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4434840" y="2167128"/>
            <a:ext cx="265176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Botnets</a:t>
            </a:r>
            <a:endParaRPr b="0" i="0" sz="1300" u="none" cap="none" strike="noStrike">
              <a:solidFill>
                <a:schemeClr val="dk1"/>
              </a:solidFill>
              <a:latin typeface="Calibri"/>
              <a:ea typeface="Calibri"/>
              <a:cs typeface="Calibri"/>
              <a:sym typeface="Calibri"/>
            </a:endParaRPr>
          </a:p>
        </p:txBody>
      </p:sp>
      <p:sp>
        <p:nvSpPr>
          <p:cNvPr id="58" name="Google Shape;58;p3"/>
          <p:cNvSpPr/>
          <p:nvPr/>
        </p:nvSpPr>
        <p:spPr>
          <a:xfrm>
            <a:off x="7132320" y="2167128"/>
            <a:ext cx="594360" cy="4937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9" name="Google Shape;59;p3"/>
          <p:cNvSpPr/>
          <p:nvPr/>
        </p:nvSpPr>
        <p:spPr>
          <a:xfrm>
            <a:off x="3886200" y="2734056"/>
            <a:ext cx="4389120" cy="493776"/>
          </a:xfrm>
          <a:prstGeom prst="roundRect">
            <a:avLst>
              <a:gd fmla="val 9259" name="adj"/>
            </a:avLst>
          </a:prstGeom>
          <a:solidFill>
            <a:srgbClr val="B98A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4114800" y="2734056"/>
            <a:ext cx="32918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Threat Actors (APT)</a:t>
            </a:r>
            <a:endParaRPr b="0" i="0" sz="1300" u="none" cap="none" strike="noStrike">
              <a:solidFill>
                <a:schemeClr val="dk1"/>
              </a:solidFill>
              <a:latin typeface="Calibri"/>
              <a:ea typeface="Calibri"/>
              <a:cs typeface="Calibri"/>
              <a:sym typeface="Calibri"/>
            </a:endParaRPr>
          </a:p>
        </p:txBody>
      </p:sp>
      <p:sp>
        <p:nvSpPr>
          <p:cNvPr id="61" name="Google Shape;61;p3"/>
          <p:cNvSpPr/>
          <p:nvPr/>
        </p:nvSpPr>
        <p:spPr>
          <a:xfrm>
            <a:off x="7452360" y="2734056"/>
            <a:ext cx="594360" cy="4937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20</a:t>
            </a:r>
            <a:endParaRPr b="0" i="0" sz="1300" u="none" cap="none" strike="noStrike">
              <a:solidFill>
                <a:schemeClr val="dk1"/>
              </a:solidFill>
              <a:latin typeface="Calibri"/>
              <a:ea typeface="Calibri"/>
              <a:cs typeface="Calibri"/>
              <a:sym typeface="Calibri"/>
            </a:endParaRPr>
          </a:p>
        </p:txBody>
      </p:sp>
      <p:sp>
        <p:nvSpPr>
          <p:cNvPr id="62" name="Google Shape;62;p3"/>
          <p:cNvSpPr/>
          <p:nvPr/>
        </p:nvSpPr>
        <p:spPr>
          <a:xfrm>
            <a:off x="3566160" y="3300984"/>
            <a:ext cx="5029200" cy="493776"/>
          </a:xfrm>
          <a:prstGeom prst="roundRect">
            <a:avLst>
              <a:gd fmla="val 9259" name="adj"/>
            </a:avLst>
          </a:prstGeom>
          <a:solidFill>
            <a:srgbClr val="4C9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3794760" y="3300984"/>
            <a:ext cx="39319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Unattributed KEV</a:t>
            </a:r>
            <a:endParaRPr b="0" i="0" sz="1300" u="none" cap="none" strike="noStrike">
              <a:solidFill>
                <a:schemeClr val="dk1"/>
              </a:solidFill>
              <a:latin typeface="Calibri"/>
              <a:ea typeface="Calibri"/>
              <a:cs typeface="Calibri"/>
              <a:sym typeface="Calibri"/>
            </a:endParaRPr>
          </a:p>
        </p:txBody>
      </p:sp>
      <p:sp>
        <p:nvSpPr>
          <p:cNvPr id="64" name="Google Shape;64;p3"/>
          <p:cNvSpPr/>
          <p:nvPr/>
        </p:nvSpPr>
        <p:spPr>
          <a:xfrm>
            <a:off x="7772400" y="3300984"/>
            <a:ext cx="594360" cy="4937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65" name="Google Shape;65;p3"/>
          <p:cNvSpPr/>
          <p:nvPr/>
        </p:nvSpPr>
        <p:spPr>
          <a:xfrm>
            <a:off x="3246120" y="3867912"/>
            <a:ext cx="5669280" cy="493776"/>
          </a:xfrm>
          <a:prstGeom prst="roundRect">
            <a:avLst>
              <a:gd fmla="val 9259" name="adj"/>
            </a:avLst>
          </a:prstGeom>
          <a:solidFill>
            <a:srgbClr val="E8C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3474720" y="3867912"/>
            <a:ext cx="45720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Weaponized</a:t>
            </a:r>
            <a:endParaRPr b="0" i="0" sz="1300" u="none" cap="none" strike="noStrike">
              <a:solidFill>
                <a:schemeClr val="dk1"/>
              </a:solidFill>
              <a:latin typeface="Calibri"/>
              <a:ea typeface="Calibri"/>
              <a:cs typeface="Calibri"/>
              <a:sym typeface="Calibri"/>
            </a:endParaRPr>
          </a:p>
        </p:txBody>
      </p:sp>
      <p:sp>
        <p:nvSpPr>
          <p:cNvPr id="67" name="Google Shape;67;p3"/>
          <p:cNvSpPr/>
          <p:nvPr/>
        </p:nvSpPr>
        <p:spPr>
          <a:xfrm>
            <a:off x="8092440" y="3867912"/>
            <a:ext cx="594360" cy="4937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68" name="Google Shape;68;p3"/>
          <p:cNvSpPr/>
          <p:nvPr/>
        </p:nvSpPr>
        <p:spPr>
          <a:xfrm>
            <a:off x="2926080" y="4434840"/>
            <a:ext cx="6309360" cy="493776"/>
          </a:xfrm>
          <a:prstGeom prst="roundRect">
            <a:avLst>
              <a:gd fmla="val 9259" name="adj"/>
            </a:avLst>
          </a:prstGeom>
          <a:solidFill>
            <a:srgbClr val="6FCB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3154680" y="4434840"/>
            <a:ext cx="521208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Proof-of-Concept</a:t>
            </a:r>
            <a:endParaRPr b="0" i="0" sz="1300" u="none" cap="none" strike="noStrike">
              <a:solidFill>
                <a:schemeClr val="dk1"/>
              </a:solidFill>
              <a:latin typeface="Calibri"/>
              <a:ea typeface="Calibri"/>
              <a:cs typeface="Calibri"/>
              <a:sym typeface="Calibri"/>
            </a:endParaRPr>
          </a:p>
        </p:txBody>
      </p:sp>
      <p:sp>
        <p:nvSpPr>
          <p:cNvPr id="70" name="Google Shape;70;p3"/>
          <p:cNvSpPr/>
          <p:nvPr/>
        </p:nvSpPr>
        <p:spPr>
          <a:xfrm>
            <a:off x="8412480" y="4434840"/>
            <a:ext cx="594360" cy="4937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44</a:t>
            </a:r>
            <a:endParaRPr b="0" i="0" sz="1300" u="none" cap="none" strike="noStrike">
              <a:solidFill>
                <a:schemeClr val="dk1"/>
              </a:solidFill>
              <a:latin typeface="Calibri"/>
              <a:ea typeface="Calibri"/>
              <a:cs typeface="Calibri"/>
              <a:sym typeface="Calibri"/>
            </a:endParaRPr>
          </a:p>
        </p:txBody>
      </p:sp>
      <p:sp>
        <p:nvSpPr>
          <p:cNvPr id="71" name="Google Shape;71;p3"/>
          <p:cNvSpPr/>
          <p:nvPr/>
        </p:nvSpPr>
        <p:spPr>
          <a:xfrm>
            <a:off x="2606040" y="5001768"/>
            <a:ext cx="6949440" cy="493776"/>
          </a:xfrm>
          <a:prstGeom prst="roundRect">
            <a:avLst>
              <a:gd fmla="val 9259" name="adj"/>
            </a:avLst>
          </a:prstGeom>
          <a:solidFill>
            <a:srgbClr val="899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2834640" y="5001768"/>
            <a:ext cx="585216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All Other Vulnerabilities</a:t>
            </a:r>
            <a:endParaRPr b="0" i="0" sz="1300" u="none" cap="none" strike="noStrike">
              <a:solidFill>
                <a:schemeClr val="dk1"/>
              </a:solidFill>
              <a:latin typeface="Calibri"/>
              <a:ea typeface="Calibri"/>
              <a:cs typeface="Calibri"/>
              <a:sym typeface="Calibri"/>
            </a:endParaRPr>
          </a:p>
        </p:txBody>
      </p:sp>
      <p:sp>
        <p:nvSpPr>
          <p:cNvPr id="73" name="Google Shape;73;p3"/>
          <p:cNvSpPr/>
          <p:nvPr/>
        </p:nvSpPr>
        <p:spPr>
          <a:xfrm>
            <a:off x="8732520" y="5001768"/>
            <a:ext cx="594360" cy="4937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B1220"/>
              </a:buClr>
              <a:buSzPts val="1300"/>
              <a:buFont typeface="Calibri"/>
              <a:buNone/>
            </a:pPr>
            <a:r>
              <a:rPr b="1" i="0" lang="en-US" sz="1300" u="none" cap="none" strike="noStrike">
                <a:solidFill>
                  <a:srgbClr val="0B1220"/>
                </a:solidFill>
                <a:latin typeface="Calibri"/>
                <a:ea typeface="Calibri"/>
                <a:cs typeface="Calibri"/>
                <a:sym typeface="Calibri"/>
              </a:rPr>
              <a:t>1250</a:t>
            </a:r>
            <a:endParaRPr b="0" i="0" sz="1300" u="none" cap="none" strike="noStrike">
              <a:solidFill>
                <a:schemeClr val="dk1"/>
              </a:solidFill>
              <a:latin typeface="Calibri"/>
              <a:ea typeface="Calibri"/>
              <a:cs typeface="Calibri"/>
              <a:sym typeface="Calibri"/>
            </a:endParaRPr>
          </a:p>
        </p:txBody>
      </p:sp>
      <p:sp>
        <p:nvSpPr>
          <p:cNvPr id="74" name="Google Shape;74;p3"/>
          <p:cNvSpPr/>
          <p:nvPr/>
        </p:nvSpPr>
        <p:spPr>
          <a:xfrm>
            <a:off x="640080" y="6309360"/>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96B0"/>
              </a:buClr>
              <a:buSzPts val="1050"/>
              <a:buFont typeface="Calibri"/>
              <a:buNone/>
            </a:pPr>
            <a:r>
              <a:rPr b="0" i="1" lang="en-US" sz="1050" u="none" cap="none" strike="noStrike">
                <a:solidFill>
                  <a:srgbClr val="8996B0"/>
                </a:solidFill>
                <a:latin typeface="Calibri"/>
                <a:ea typeface="Calibri"/>
                <a:cs typeface="Calibri"/>
                <a:sym typeface="Calibri"/>
              </a:rPr>
              <a:t>Findings mapped to VulnCheck's Evidence-Based Vulnerability Prioritization model. Bottom tier omitted from remediation scope; top six tiers (82 CVEs) are the action list.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79" name="Shape 79"/>
        <p:cNvGrpSpPr/>
        <p:nvPr/>
      </p:nvGrpSpPr>
      <p:grpSpPr>
        <a:xfrm>
          <a:off x="0" y="0"/>
          <a:ext cx="0" cy="0"/>
          <a:chOff x="0" y="0"/>
          <a:chExt cx="0" cy="0"/>
        </a:xfrm>
      </p:grpSpPr>
      <p:sp>
        <p:nvSpPr>
          <p:cNvPr id="80" name="Google Shape;80;p4"/>
          <p:cNvSpPr/>
          <p:nvPr/>
        </p:nvSpPr>
        <p:spPr>
          <a:xfrm>
            <a:off x="640080" y="5029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2"/>
              </a:buClr>
              <a:buSzPts val="1200"/>
              <a:buFont typeface="Calibri"/>
              <a:buNone/>
            </a:pPr>
            <a:r>
              <a:rPr b="1" i="0" lang="en-US" sz="1200" u="none" cap="none" strike="noStrike">
                <a:solidFill>
                  <a:srgbClr val="1B7A62"/>
                </a:solidFill>
                <a:latin typeface="Calibri"/>
                <a:ea typeface="Calibri"/>
                <a:cs typeface="Calibri"/>
                <a:sym typeface="Calibri"/>
              </a:rPr>
              <a:t>WHY IT MATTERS</a:t>
            </a:r>
            <a:endParaRPr b="0" i="0" sz="1200" u="none" cap="none" strike="noStrike">
              <a:solidFill>
                <a:schemeClr val="dk1"/>
              </a:solidFill>
              <a:latin typeface="Calibri"/>
              <a:ea typeface="Calibri"/>
              <a:cs typeface="Calibri"/>
              <a:sym typeface="Calibri"/>
            </a:endParaRPr>
          </a:p>
        </p:txBody>
      </p:sp>
      <p:sp>
        <p:nvSpPr>
          <p:cNvPr id="81" name="Google Shape;81;p4"/>
          <p:cNvSpPr/>
          <p:nvPr/>
        </p:nvSpPr>
        <p:spPr>
          <a:xfrm>
            <a:off x="640080" y="822960"/>
            <a:ext cx="10881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2500"/>
              <a:buFont typeface="Cambria"/>
              <a:buNone/>
            </a:pPr>
            <a:r>
              <a:rPr b="1" i="0" lang="en-US" sz="2500" u="none" cap="none" strike="noStrike">
                <a:solidFill>
                  <a:srgbClr val="1B2333"/>
                </a:solidFill>
                <a:latin typeface="Cambria"/>
                <a:ea typeface="Cambria"/>
                <a:cs typeface="Cambria"/>
                <a:sym typeface="Cambria"/>
              </a:rPr>
              <a:t>A small edge surface carries most of the top-tier risk</a:t>
            </a:r>
            <a:endParaRPr b="0" i="0" sz="2500" u="none" cap="none" strike="noStrike">
              <a:solidFill>
                <a:schemeClr val="dk1"/>
              </a:solidFill>
              <a:latin typeface="Calibri"/>
              <a:ea typeface="Calibri"/>
              <a:cs typeface="Calibri"/>
              <a:sym typeface="Calibri"/>
            </a:endParaRPr>
          </a:p>
        </p:txBody>
      </p:sp>
      <p:graphicFrame>
        <p:nvGraphicFramePr>
          <p:cNvPr id="82" name="Google Shape;82;p4"/>
          <p:cNvGraphicFramePr/>
          <p:nvPr/>
        </p:nvGraphicFramePr>
        <p:xfrm>
          <a:off x="640080" y="1600200"/>
          <a:ext cx="5760720" cy="2788920"/>
        </p:xfrm>
        <a:graphic>
          <a:graphicData uri="http://schemas.openxmlformats.org/drawingml/2006/chart">
            <c:chart r:id="rId3"/>
          </a:graphicData>
        </a:graphic>
      </p:graphicFrame>
      <p:sp>
        <p:nvSpPr>
          <p:cNvPr id="83" name="Google Shape;83;p4"/>
          <p:cNvSpPr/>
          <p:nvPr/>
        </p:nvSpPr>
        <p:spPr>
          <a:xfrm>
            <a:off x="640080" y="4800600"/>
            <a:ext cx="384048" cy="384048"/>
          </a:xfrm>
          <a:prstGeom prst="ellipse">
            <a:avLst/>
          </a:prstGeom>
          <a:solidFill>
            <a:srgbClr val="F25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640080" y="48006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500"/>
              <a:buFont typeface="Calibri"/>
              <a:buNone/>
            </a:pPr>
            <a:r>
              <a:rPr b="1" i="0" lang="en-US" sz="1500" u="none" cap="none" strike="noStrike">
                <a:solidFill>
                  <a:srgbClr val="0B122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85" name="Google Shape;85;p4"/>
          <p:cNvSpPr/>
          <p:nvPr/>
        </p:nvSpPr>
        <p:spPr>
          <a:xfrm>
            <a:off x="1188720" y="475488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PAN-OS: 2.9% of CVE volume, 71% of ransomware/botnet findings</a:t>
            </a:r>
            <a:endParaRPr b="0" i="0" sz="1300" u="none" cap="none" strike="noStrike">
              <a:solidFill>
                <a:schemeClr val="dk1"/>
              </a:solidFill>
              <a:latin typeface="Calibri"/>
              <a:ea typeface="Calibri"/>
              <a:cs typeface="Calibri"/>
              <a:sym typeface="Calibri"/>
            </a:endParaRPr>
          </a:p>
        </p:txBody>
      </p:sp>
      <p:sp>
        <p:nvSpPr>
          <p:cNvPr id="86" name="Google Shape;86;p4"/>
          <p:cNvSpPr/>
          <p:nvPr/>
        </p:nvSpPr>
        <p:spPr>
          <a:xfrm>
            <a:off x="1188720" y="5056632"/>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150"/>
              <a:buFont typeface="Calibri"/>
              <a:buNone/>
            </a:pPr>
            <a:r>
              <a:rPr b="0" i="0" lang="en-US" sz="1150" u="none" cap="none" strike="noStrike">
                <a:solidFill>
                  <a:srgbClr val="5C6A85"/>
                </a:solidFill>
                <a:latin typeface="Calibri"/>
                <a:ea typeface="Calibri"/>
                <a:cs typeface="Calibri"/>
                <a:sym typeface="Calibri"/>
              </a:rPr>
              <a:t>The internet-facing management interface — the most common ransomware initial-access vector in financial services.</a:t>
            </a:r>
            <a:endParaRPr b="0" i="0" sz="1150" u="none" cap="none" strike="noStrike">
              <a:solidFill>
                <a:schemeClr val="dk1"/>
              </a:solidFill>
              <a:latin typeface="Calibri"/>
              <a:ea typeface="Calibri"/>
              <a:cs typeface="Calibri"/>
              <a:sym typeface="Calibri"/>
            </a:endParaRPr>
          </a:p>
        </p:txBody>
      </p:sp>
      <p:sp>
        <p:nvSpPr>
          <p:cNvPr id="87" name="Google Shape;87;p4"/>
          <p:cNvSpPr/>
          <p:nvPr/>
        </p:nvSpPr>
        <p:spPr>
          <a:xfrm>
            <a:off x="640080" y="5669280"/>
            <a:ext cx="384048" cy="384048"/>
          </a:xfrm>
          <a:prstGeom prst="ellipse">
            <a:avLst/>
          </a:prstGeom>
          <a:solidFill>
            <a:srgbClr val="4C9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640080" y="5669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500"/>
              <a:buFont typeface="Calibri"/>
              <a:buNone/>
            </a:pPr>
            <a:r>
              <a:rPr b="1" i="0" lang="en-US" sz="1500" u="none" cap="none" strike="noStrike">
                <a:solidFill>
                  <a:srgbClr val="0B122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89" name="Google Shape;89;p4"/>
          <p:cNvSpPr/>
          <p:nvPr/>
        </p:nvSpPr>
        <p:spPr>
          <a:xfrm>
            <a:off x="1188720" y="562356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00"/>
              <a:buFont typeface="Calibri"/>
              <a:buNone/>
            </a:pPr>
            <a:r>
              <a:rPr b="1" i="0" lang="en-US" sz="1300" u="none" cap="none" strike="noStrike">
                <a:solidFill>
                  <a:srgbClr val="1B2333"/>
                </a:solidFill>
                <a:latin typeface="Calibri"/>
                <a:ea typeface="Calibri"/>
                <a:cs typeface="Calibri"/>
                <a:sym typeface="Calibri"/>
              </a:rPr>
              <a:t>WebIQ's one CVE is confirmed exploited — and CISA-invisible</a:t>
            </a:r>
            <a:endParaRPr b="0" i="0" sz="1300" u="none" cap="none" strike="noStrike">
              <a:solidFill>
                <a:schemeClr val="dk1"/>
              </a:solidFill>
              <a:latin typeface="Calibri"/>
              <a:ea typeface="Calibri"/>
              <a:cs typeface="Calibri"/>
              <a:sym typeface="Calibri"/>
            </a:endParaRPr>
          </a:p>
        </p:txBody>
      </p:sp>
      <p:sp>
        <p:nvSpPr>
          <p:cNvPr id="90" name="Google Shape;90;p4"/>
          <p:cNvSpPr/>
          <p:nvPr/>
        </p:nvSpPr>
        <p:spPr>
          <a:xfrm>
            <a:off x="1188720" y="5925312"/>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150"/>
              <a:buFont typeface="Calibri"/>
              <a:buNone/>
            </a:pPr>
            <a:r>
              <a:rPr b="0" i="0" lang="en-US" sz="1150" u="none" cap="none" strike="noStrike">
                <a:solidFill>
                  <a:srgbClr val="5C6A85"/>
                </a:solidFill>
                <a:latin typeface="Calibri"/>
                <a:ea typeface="Calibri"/>
                <a:cs typeface="Calibri"/>
                <a:sym typeface="Calibri"/>
              </a:rPr>
              <a:t>CVE-2024-8752, a directory traversal flaw, is in VulnCheck KEV but entirely absent from CISA's catalog.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5" name="Shape 95"/>
        <p:cNvGrpSpPr/>
        <p:nvPr/>
      </p:nvGrpSpPr>
      <p:grpSpPr>
        <a:xfrm>
          <a:off x="0" y="0"/>
          <a:ext cx="0" cy="0"/>
          <a:chOff x="0" y="0"/>
          <a:chExt cx="0" cy="0"/>
        </a:xfrm>
      </p:grpSpPr>
      <p:sp>
        <p:nvSpPr>
          <p:cNvPr id="96" name="Google Shape;96;p5"/>
          <p:cNvSpPr/>
          <p:nvPr/>
        </p:nvSpPr>
        <p:spPr>
          <a:xfrm>
            <a:off x="640080" y="4572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2"/>
              </a:buClr>
              <a:buSzPts val="1200"/>
              <a:buFont typeface="Calibri"/>
              <a:buNone/>
            </a:pPr>
            <a:r>
              <a:rPr b="1" i="0" lang="en-US" sz="1200" u="none" cap="none" strike="noStrike">
                <a:solidFill>
                  <a:srgbClr val="1B7A62"/>
                </a:solidFill>
                <a:latin typeface="Calibri"/>
                <a:ea typeface="Calibri"/>
                <a:cs typeface="Calibri"/>
                <a:sym typeface="Calibri"/>
              </a:rPr>
              <a:t>REMEDIATION PRIORITY</a:t>
            </a:r>
            <a:endParaRPr b="0" i="0" sz="1200" u="none" cap="none" strike="noStrike">
              <a:solidFill>
                <a:schemeClr val="dk1"/>
              </a:solidFill>
              <a:latin typeface="Calibri"/>
              <a:ea typeface="Calibri"/>
              <a:cs typeface="Calibri"/>
              <a:sym typeface="Calibri"/>
            </a:endParaRPr>
          </a:p>
        </p:txBody>
      </p:sp>
      <p:sp>
        <p:nvSpPr>
          <p:cNvPr id="97" name="Google Shape;97;p5"/>
          <p:cNvSpPr/>
          <p:nvPr/>
        </p:nvSpPr>
        <p:spPr>
          <a:xfrm>
            <a:off x="640080" y="777240"/>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2600"/>
              <a:buFont typeface="Cambria"/>
              <a:buNone/>
            </a:pPr>
            <a:r>
              <a:rPr b="1" i="0" lang="en-US" sz="2600" u="none" cap="none" strike="noStrike">
                <a:solidFill>
                  <a:srgbClr val="1B2333"/>
                </a:solidFill>
                <a:latin typeface="Cambria"/>
                <a:ea typeface="Cambria"/>
                <a:cs typeface="Cambria"/>
                <a:sym typeface="Cambria"/>
              </a:rPr>
              <a:t>What Acme should do first</a:t>
            </a:r>
            <a:endParaRPr b="0" i="0" sz="2600" u="none" cap="none" strike="noStrike">
              <a:solidFill>
                <a:schemeClr val="dk1"/>
              </a:solidFill>
              <a:latin typeface="Calibri"/>
              <a:ea typeface="Calibri"/>
              <a:cs typeface="Calibri"/>
              <a:sym typeface="Calibri"/>
            </a:endParaRPr>
          </a:p>
        </p:txBody>
      </p:sp>
      <p:sp>
        <p:nvSpPr>
          <p:cNvPr id="98" name="Google Shape;98;p5"/>
          <p:cNvSpPr/>
          <p:nvPr/>
        </p:nvSpPr>
        <p:spPr>
          <a:xfrm>
            <a:off x="640080" y="1554480"/>
            <a:ext cx="10881360" cy="841248"/>
          </a:xfrm>
          <a:prstGeom prst="roundRect">
            <a:avLst>
              <a:gd fmla="val 7609"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868680" y="1764792"/>
            <a:ext cx="420624" cy="420624"/>
          </a:xfrm>
          <a:prstGeom prst="ellipse">
            <a:avLst/>
          </a:prstGeom>
          <a:solidFill>
            <a:srgbClr val="F25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868680" y="176479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600"/>
              <a:buFont typeface="Calibri"/>
              <a:buNone/>
            </a:pPr>
            <a:r>
              <a:rPr b="1" i="0" lang="en-US" sz="1600" u="none" cap="none" strike="noStrike">
                <a:solidFill>
                  <a:srgbClr val="0B1220"/>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01" name="Google Shape;101;p5"/>
          <p:cNvSpPr/>
          <p:nvPr/>
        </p:nvSpPr>
        <p:spPr>
          <a:xfrm>
            <a:off x="1508760" y="1645920"/>
            <a:ext cx="9784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CVE-2024-0012 — PAN-OS auth bypass (CVSS 9.8)</a:t>
            </a:r>
            <a:endParaRPr b="0" i="0" sz="1350" u="none" cap="none" strike="noStrike">
              <a:solidFill>
                <a:schemeClr val="dk1"/>
              </a:solidFill>
              <a:latin typeface="Calibri"/>
              <a:ea typeface="Calibri"/>
              <a:cs typeface="Calibri"/>
              <a:sym typeface="Calibri"/>
            </a:endParaRPr>
          </a:p>
        </p:txBody>
      </p:sp>
      <p:sp>
        <p:nvSpPr>
          <p:cNvPr id="102" name="Google Shape;102;p5"/>
          <p:cNvSpPr/>
          <p:nvPr/>
        </p:nvSpPr>
        <p:spPr>
          <a:xfrm>
            <a:off x="1508760" y="1975104"/>
            <a:ext cx="9784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080"/>
              <a:buFont typeface="Calibri"/>
              <a:buNone/>
            </a:pPr>
            <a:r>
              <a:rPr b="0" i="0" lang="en-US" sz="1080" u="none" cap="none" strike="noStrike">
                <a:solidFill>
                  <a:srgbClr val="5C6A85"/>
                </a:solidFill>
                <a:latin typeface="Calibri"/>
                <a:ea typeface="Calibri"/>
                <a:cs typeface="Calibri"/>
                <a:sym typeface="Calibri"/>
              </a:rPr>
              <a:t>Confirmed ransomware (RA World), botnet, and China-attributed APT activity on one flaw. Patch immediately.</a:t>
            </a:r>
            <a:endParaRPr b="0" i="0" sz="1080" u="none" cap="none" strike="noStrike">
              <a:solidFill>
                <a:schemeClr val="dk1"/>
              </a:solidFill>
              <a:latin typeface="Calibri"/>
              <a:ea typeface="Calibri"/>
              <a:cs typeface="Calibri"/>
              <a:sym typeface="Calibri"/>
            </a:endParaRPr>
          </a:p>
        </p:txBody>
      </p:sp>
      <p:sp>
        <p:nvSpPr>
          <p:cNvPr id="103" name="Google Shape;103;p5"/>
          <p:cNvSpPr/>
          <p:nvPr/>
        </p:nvSpPr>
        <p:spPr>
          <a:xfrm>
            <a:off x="640080" y="2505456"/>
            <a:ext cx="10881360" cy="841248"/>
          </a:xfrm>
          <a:prstGeom prst="roundRect">
            <a:avLst>
              <a:gd fmla="val 7609"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868680" y="2715768"/>
            <a:ext cx="420624" cy="420624"/>
          </a:xfrm>
          <a:prstGeom prst="ellipse">
            <a:avLst/>
          </a:prstGeom>
          <a:solidFill>
            <a:srgbClr val="F25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868680" y="271576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600"/>
              <a:buFont typeface="Calibri"/>
              <a:buNone/>
            </a:pPr>
            <a:r>
              <a:rPr b="1" i="0" lang="en-US" sz="1600" u="none" cap="none" strike="noStrike">
                <a:solidFill>
                  <a:srgbClr val="0B1220"/>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06" name="Google Shape;106;p5"/>
          <p:cNvSpPr/>
          <p:nvPr/>
        </p:nvSpPr>
        <p:spPr>
          <a:xfrm>
            <a:off x="1508760" y="2596896"/>
            <a:ext cx="9784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CVE-2026-0300 — PAN-OS out-of-bounds write (CVSS 9.8)</a:t>
            </a:r>
            <a:endParaRPr b="0" i="0" sz="1350" u="none" cap="none" strike="noStrike">
              <a:solidFill>
                <a:schemeClr val="dk1"/>
              </a:solidFill>
              <a:latin typeface="Calibri"/>
              <a:ea typeface="Calibri"/>
              <a:cs typeface="Calibri"/>
              <a:sym typeface="Calibri"/>
            </a:endParaRPr>
          </a:p>
        </p:txBody>
      </p:sp>
      <p:sp>
        <p:nvSpPr>
          <p:cNvPr id="107" name="Google Shape;107;p5"/>
          <p:cNvSpPr/>
          <p:nvPr/>
        </p:nvSpPr>
        <p:spPr>
          <a:xfrm>
            <a:off x="1508760" y="2926080"/>
            <a:ext cx="9784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080"/>
              <a:buFont typeface="Calibri"/>
              <a:buNone/>
            </a:pPr>
            <a:r>
              <a:rPr b="0" i="0" lang="en-US" sz="1080" u="none" cap="none" strike="noStrike">
                <a:solidFill>
                  <a:srgbClr val="5C6A85"/>
                </a:solidFill>
                <a:latin typeface="Calibri"/>
                <a:ea typeface="Calibri"/>
                <a:cs typeface="Calibri"/>
                <a:sym typeface="Calibri"/>
              </a:rPr>
              <a:t>Ransomware-linked, China-attributed. Bundle with #1 — same platform, same maintenance window.</a:t>
            </a:r>
            <a:endParaRPr b="0" i="0" sz="1080" u="none" cap="none" strike="noStrike">
              <a:solidFill>
                <a:schemeClr val="dk1"/>
              </a:solidFill>
              <a:latin typeface="Calibri"/>
              <a:ea typeface="Calibri"/>
              <a:cs typeface="Calibri"/>
              <a:sym typeface="Calibri"/>
            </a:endParaRPr>
          </a:p>
        </p:txBody>
      </p:sp>
      <p:sp>
        <p:nvSpPr>
          <p:cNvPr id="108" name="Google Shape;108;p5"/>
          <p:cNvSpPr/>
          <p:nvPr/>
        </p:nvSpPr>
        <p:spPr>
          <a:xfrm>
            <a:off x="640080" y="3456432"/>
            <a:ext cx="10881360" cy="841248"/>
          </a:xfrm>
          <a:prstGeom prst="roundRect">
            <a:avLst>
              <a:gd fmla="val 7609"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868680" y="3666744"/>
            <a:ext cx="420624" cy="420624"/>
          </a:xfrm>
          <a:prstGeom prst="ellipse">
            <a:avLst/>
          </a:prstGeom>
          <a:solidFill>
            <a:srgbClr val="F254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868680" y="36667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600"/>
              <a:buFont typeface="Calibri"/>
              <a:buNone/>
            </a:pPr>
            <a:r>
              <a:rPr b="1" i="0" lang="en-US" sz="1600" u="none" cap="none" strike="noStrike">
                <a:solidFill>
                  <a:srgbClr val="0B1220"/>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11" name="Google Shape;111;p5"/>
          <p:cNvSpPr/>
          <p:nvPr/>
        </p:nvSpPr>
        <p:spPr>
          <a:xfrm>
            <a:off x="1508760" y="3547872"/>
            <a:ext cx="9784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CVE-2025-59287 — Windows Server WSUS deserialization RCE (CVSS 9.8)</a:t>
            </a:r>
            <a:endParaRPr b="0" i="0" sz="1350" u="none" cap="none" strike="noStrike">
              <a:solidFill>
                <a:schemeClr val="dk1"/>
              </a:solidFill>
              <a:latin typeface="Calibri"/>
              <a:ea typeface="Calibri"/>
              <a:cs typeface="Calibri"/>
              <a:sym typeface="Calibri"/>
            </a:endParaRPr>
          </a:p>
        </p:txBody>
      </p:sp>
      <p:sp>
        <p:nvSpPr>
          <p:cNvPr id="112" name="Google Shape;112;p5"/>
          <p:cNvSpPr/>
          <p:nvPr/>
        </p:nvSpPr>
        <p:spPr>
          <a:xfrm>
            <a:off x="1508760" y="3877056"/>
            <a:ext cx="9784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080"/>
              <a:buFont typeface="Calibri"/>
              <a:buNone/>
            </a:pPr>
            <a:r>
              <a:rPr b="0" i="0" lang="en-US" sz="1080" u="none" cap="none" strike="noStrike">
                <a:solidFill>
                  <a:srgbClr val="5C6A85"/>
                </a:solidFill>
                <a:latin typeface="Calibri"/>
                <a:ea typeface="Calibri"/>
                <a:cs typeface="Calibri"/>
                <a:sym typeface="Calibri"/>
              </a:rPr>
              <a:t>Ransomware-linked; China and Iran attribution. The most severe finding outside PAN-OS.</a:t>
            </a:r>
            <a:endParaRPr b="0" i="0" sz="1080" u="none" cap="none" strike="noStrike">
              <a:solidFill>
                <a:schemeClr val="dk1"/>
              </a:solidFill>
              <a:latin typeface="Calibri"/>
              <a:ea typeface="Calibri"/>
              <a:cs typeface="Calibri"/>
              <a:sym typeface="Calibri"/>
            </a:endParaRPr>
          </a:p>
        </p:txBody>
      </p:sp>
      <p:sp>
        <p:nvSpPr>
          <p:cNvPr id="113" name="Google Shape;113;p5"/>
          <p:cNvSpPr/>
          <p:nvPr/>
        </p:nvSpPr>
        <p:spPr>
          <a:xfrm>
            <a:off x="640080" y="4407408"/>
            <a:ext cx="10881360" cy="841248"/>
          </a:xfrm>
          <a:prstGeom prst="roundRect">
            <a:avLst>
              <a:gd fmla="val 7609"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868680" y="4617720"/>
            <a:ext cx="420624" cy="420624"/>
          </a:xfrm>
          <a:prstGeom prst="ellipse">
            <a:avLst/>
          </a:prstGeom>
          <a:solidFill>
            <a:srgbClr val="F59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68680" y="461772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600"/>
              <a:buFont typeface="Calibri"/>
              <a:buNone/>
            </a:pPr>
            <a:r>
              <a:rPr b="1" i="0" lang="en-US" sz="1600" u="none" cap="none" strike="noStrike">
                <a:solidFill>
                  <a:srgbClr val="0B1220"/>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16" name="Google Shape;116;p5"/>
          <p:cNvSpPr/>
          <p:nvPr/>
        </p:nvSpPr>
        <p:spPr>
          <a:xfrm>
            <a:off x="1508760" y="4498848"/>
            <a:ext cx="9784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CVE-2025-0108 — PAN-OS auth bypass, botnet-linked (CVSS 9.1)</a:t>
            </a:r>
            <a:endParaRPr b="0" i="0" sz="1350" u="none" cap="none" strike="noStrike">
              <a:solidFill>
                <a:schemeClr val="dk1"/>
              </a:solidFill>
              <a:latin typeface="Calibri"/>
              <a:ea typeface="Calibri"/>
              <a:cs typeface="Calibri"/>
              <a:sym typeface="Calibri"/>
            </a:endParaRPr>
          </a:p>
        </p:txBody>
      </p:sp>
      <p:sp>
        <p:nvSpPr>
          <p:cNvPr id="117" name="Google Shape;117;p5"/>
          <p:cNvSpPr/>
          <p:nvPr/>
        </p:nvSpPr>
        <p:spPr>
          <a:xfrm>
            <a:off x="1508760" y="4828032"/>
            <a:ext cx="9784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080"/>
              <a:buFont typeface="Calibri"/>
              <a:buNone/>
            </a:pPr>
            <a:r>
              <a:rPr b="0" i="0" lang="en-US" sz="1080" u="none" cap="none" strike="noStrike">
                <a:solidFill>
                  <a:srgbClr val="5C6A85"/>
                </a:solidFill>
                <a:latin typeface="Calibri"/>
                <a:ea typeface="Calibri"/>
                <a:cs typeface="Calibri"/>
                <a:sym typeface="Calibri"/>
              </a:rPr>
              <a:t>VulnCheck flagged known exploitation 5 days before CISA KEV listed it.</a:t>
            </a:r>
            <a:endParaRPr b="0" i="0" sz="1080" u="none" cap="none" strike="noStrike">
              <a:solidFill>
                <a:schemeClr val="dk1"/>
              </a:solidFill>
              <a:latin typeface="Calibri"/>
              <a:ea typeface="Calibri"/>
              <a:cs typeface="Calibri"/>
              <a:sym typeface="Calibri"/>
            </a:endParaRPr>
          </a:p>
        </p:txBody>
      </p:sp>
      <p:sp>
        <p:nvSpPr>
          <p:cNvPr id="118" name="Google Shape;118;p5"/>
          <p:cNvSpPr/>
          <p:nvPr/>
        </p:nvSpPr>
        <p:spPr>
          <a:xfrm>
            <a:off x="640080" y="5358384"/>
            <a:ext cx="10881360" cy="841248"/>
          </a:xfrm>
          <a:prstGeom prst="roundRect">
            <a:avLst>
              <a:gd fmla="val 7609"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868680" y="5568696"/>
            <a:ext cx="420624" cy="420624"/>
          </a:xfrm>
          <a:prstGeom prst="ellipse">
            <a:avLst/>
          </a:prstGeom>
          <a:solidFill>
            <a:srgbClr val="4C9F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868680" y="556869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600"/>
              <a:buFont typeface="Calibri"/>
              <a:buNone/>
            </a:pPr>
            <a:r>
              <a:rPr b="1" i="0" lang="en-US" sz="1600" u="none" cap="none" strike="noStrike">
                <a:solidFill>
                  <a:srgbClr val="0B1220"/>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121" name="Google Shape;121;p5"/>
          <p:cNvSpPr/>
          <p:nvPr/>
        </p:nvSpPr>
        <p:spPr>
          <a:xfrm>
            <a:off x="1508760" y="5449824"/>
            <a:ext cx="9784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350"/>
              <a:buFont typeface="Calibri"/>
              <a:buNone/>
            </a:pPr>
            <a:r>
              <a:rPr b="1" i="0" lang="en-US" sz="1350" u="none" cap="none" strike="noStrike">
                <a:solidFill>
                  <a:srgbClr val="1B2333"/>
                </a:solidFill>
                <a:latin typeface="Calibri"/>
                <a:ea typeface="Calibri"/>
                <a:cs typeface="Calibri"/>
                <a:sym typeface="Calibri"/>
              </a:rPr>
              <a:t>CVE-2024-8752 — WebIQ directory traversal (CVSS 7.5)</a:t>
            </a:r>
            <a:endParaRPr b="0" i="0" sz="1350" u="none" cap="none" strike="noStrike">
              <a:solidFill>
                <a:schemeClr val="dk1"/>
              </a:solidFill>
              <a:latin typeface="Calibri"/>
              <a:ea typeface="Calibri"/>
              <a:cs typeface="Calibri"/>
              <a:sym typeface="Calibri"/>
            </a:endParaRPr>
          </a:p>
        </p:txBody>
      </p:sp>
      <p:sp>
        <p:nvSpPr>
          <p:cNvPr id="122" name="Google Shape;122;p5"/>
          <p:cNvSpPr/>
          <p:nvPr/>
        </p:nvSpPr>
        <p:spPr>
          <a:xfrm>
            <a:off x="1508760" y="5779008"/>
            <a:ext cx="9784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080"/>
              <a:buFont typeface="Calibri"/>
              <a:buNone/>
            </a:pPr>
            <a:r>
              <a:rPr b="0" i="0" lang="en-US" sz="1080" u="none" cap="none" strike="noStrike">
                <a:solidFill>
                  <a:srgbClr val="5C6A85"/>
                </a:solidFill>
                <a:latin typeface="Calibri"/>
                <a:ea typeface="Calibri"/>
                <a:cs typeface="Calibri"/>
                <a:sym typeface="Calibri"/>
              </a:rPr>
              <a:t>Confirmed exploited, invisible to CISA KEV entirely — the only finding on this asset, so it's a fast, contained fix.</a:t>
            </a:r>
            <a:endParaRPr b="0" i="0" sz="108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7" name="Shape 127"/>
        <p:cNvGrpSpPr/>
        <p:nvPr/>
      </p:nvGrpSpPr>
      <p:grpSpPr>
        <a:xfrm>
          <a:off x="0" y="0"/>
          <a:ext cx="0" cy="0"/>
          <a:chOff x="0" y="0"/>
          <a:chExt cx="0" cy="0"/>
        </a:xfrm>
      </p:grpSpPr>
      <p:sp>
        <p:nvSpPr>
          <p:cNvPr id="128" name="Google Shape;128;p6"/>
          <p:cNvSpPr/>
          <p:nvPr/>
        </p:nvSpPr>
        <p:spPr>
          <a:xfrm>
            <a:off x="640080" y="50292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1200"/>
              <a:buFont typeface="Calibri"/>
              <a:buNone/>
            </a:pPr>
            <a:r>
              <a:rPr b="1" i="0" lang="en-US" sz="1200" u="none" cap="none" strike="noStrike">
                <a:solidFill>
                  <a:srgbClr val="27D3A6"/>
                </a:solidFill>
                <a:latin typeface="Calibri"/>
                <a:ea typeface="Calibri"/>
                <a:cs typeface="Calibri"/>
                <a:sym typeface="Calibri"/>
              </a:rPr>
              <a:t>THE VULNCHECK ADVANTAGE</a:t>
            </a:r>
            <a:endParaRPr b="0" i="0" sz="1200" u="none" cap="none" strike="noStrike">
              <a:solidFill>
                <a:schemeClr val="dk1"/>
              </a:solidFill>
              <a:latin typeface="Calibri"/>
              <a:ea typeface="Calibri"/>
              <a:cs typeface="Calibri"/>
              <a:sym typeface="Calibri"/>
            </a:endParaRPr>
          </a:p>
        </p:txBody>
      </p:sp>
      <p:sp>
        <p:nvSpPr>
          <p:cNvPr id="129" name="Google Shape;129;p6"/>
          <p:cNvSpPr/>
          <p:nvPr/>
        </p:nvSpPr>
        <p:spPr>
          <a:xfrm>
            <a:off x="640080" y="822960"/>
            <a:ext cx="10515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How VulnCheck intelligence helped clarify risk</a:t>
            </a:r>
            <a:endParaRPr b="0" i="0" sz="2600" u="none" cap="none" strike="noStrike">
              <a:solidFill>
                <a:schemeClr val="dk1"/>
              </a:solidFill>
              <a:latin typeface="Calibri"/>
              <a:ea typeface="Calibri"/>
              <a:cs typeface="Calibri"/>
              <a:sym typeface="Calibri"/>
            </a:endParaRPr>
          </a:p>
        </p:txBody>
      </p:sp>
      <p:graphicFrame>
        <p:nvGraphicFramePr>
          <p:cNvPr id="130" name="Google Shape;130;p6"/>
          <p:cNvGraphicFramePr/>
          <p:nvPr/>
        </p:nvGraphicFramePr>
        <p:xfrm>
          <a:off x="640080" y="1691640"/>
          <a:ext cx="5120640" cy="3291840"/>
        </p:xfrm>
        <a:graphic>
          <a:graphicData uri="http://schemas.openxmlformats.org/drawingml/2006/chart">
            <c:chart r:id="rId3"/>
          </a:graphicData>
        </a:graphic>
      </p:graphicFrame>
      <p:sp>
        <p:nvSpPr>
          <p:cNvPr id="131" name="Google Shape;131;p6"/>
          <p:cNvSpPr/>
          <p:nvPr/>
        </p:nvSpPr>
        <p:spPr>
          <a:xfrm>
            <a:off x="6035040" y="1691640"/>
            <a:ext cx="5486400" cy="1042416"/>
          </a:xfrm>
          <a:prstGeom prst="roundRect">
            <a:avLst>
              <a:gd fmla="val 5263" name="adj"/>
            </a:avLst>
          </a:prstGeom>
          <a:solidFill>
            <a:srgbClr val="141C2E"/>
          </a:solidFill>
          <a:ln cap="flat" cmpd="sng" w="12700">
            <a:solidFill>
              <a:srgbClr val="1A24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6263640" y="178308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1250"/>
              <a:buFont typeface="Calibri"/>
              <a:buNone/>
            </a:pPr>
            <a:r>
              <a:rPr b="1" i="0" lang="en-US" sz="1250" u="none" cap="none" strike="noStrike">
                <a:solidFill>
                  <a:srgbClr val="27D3A6"/>
                </a:solidFill>
                <a:latin typeface="Calibri"/>
                <a:ea typeface="Calibri"/>
                <a:cs typeface="Calibri"/>
                <a:sym typeface="Calibri"/>
              </a:rPr>
              <a:t>5 confirmed-exploited CVEs, zero CISA visibility</a:t>
            </a:r>
            <a:endParaRPr b="0" i="0" sz="1250" u="none" cap="none" strike="noStrike">
              <a:solidFill>
                <a:schemeClr val="dk1"/>
              </a:solidFill>
              <a:latin typeface="Calibri"/>
              <a:ea typeface="Calibri"/>
              <a:cs typeface="Calibri"/>
              <a:sym typeface="Calibri"/>
            </a:endParaRPr>
          </a:p>
        </p:txBody>
      </p:sp>
      <p:sp>
        <p:nvSpPr>
          <p:cNvPr id="133" name="Google Shape;133;p6"/>
          <p:cNvSpPr/>
          <p:nvPr/>
        </p:nvSpPr>
        <p:spPr>
          <a:xfrm>
            <a:off x="6263640" y="2103120"/>
            <a:ext cx="50292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030"/>
              <a:buFont typeface="Calibri"/>
              <a:buNone/>
            </a:pPr>
            <a:r>
              <a:rPr b="0" i="0" lang="en-US" sz="1030" u="none" cap="none" strike="noStrike">
                <a:solidFill>
                  <a:srgbClr val="C9D3E4"/>
                </a:solidFill>
                <a:latin typeface="Calibri"/>
                <a:ea typeface="Calibri"/>
                <a:cs typeface="Calibri"/>
                <a:sym typeface="Calibri"/>
              </a:rPr>
              <a:t>Every CISA KEV entry in this dataset is also in VulnCheck KEV — but 5 more are exploited-in-the-wild per VulnCheck with no CISA KEV entry at all, including Acme's only WebIQ finding.</a:t>
            </a:r>
            <a:endParaRPr b="0" i="0" sz="1030" u="none" cap="none" strike="noStrike">
              <a:solidFill>
                <a:schemeClr val="dk1"/>
              </a:solidFill>
              <a:latin typeface="Calibri"/>
              <a:ea typeface="Calibri"/>
              <a:cs typeface="Calibri"/>
              <a:sym typeface="Calibri"/>
            </a:endParaRPr>
          </a:p>
        </p:txBody>
      </p:sp>
      <p:sp>
        <p:nvSpPr>
          <p:cNvPr id="134" name="Google Shape;134;p6"/>
          <p:cNvSpPr/>
          <p:nvPr/>
        </p:nvSpPr>
        <p:spPr>
          <a:xfrm>
            <a:off x="6035040" y="2862072"/>
            <a:ext cx="5486400" cy="1042416"/>
          </a:xfrm>
          <a:prstGeom prst="roundRect">
            <a:avLst>
              <a:gd fmla="val 5263" name="adj"/>
            </a:avLst>
          </a:prstGeom>
          <a:solidFill>
            <a:srgbClr val="141C2E"/>
          </a:solidFill>
          <a:ln cap="flat" cmpd="sng" w="12700">
            <a:solidFill>
              <a:srgbClr val="1A24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6263640" y="2953512"/>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1250"/>
              <a:buFont typeface="Calibri"/>
              <a:buNone/>
            </a:pPr>
            <a:r>
              <a:rPr b="1" i="0" lang="en-US" sz="1250" u="none" cap="none" strike="noStrike">
                <a:solidFill>
                  <a:srgbClr val="27D3A6"/>
                </a:solidFill>
                <a:latin typeface="Calibri"/>
                <a:ea typeface="Calibri"/>
                <a:cs typeface="Calibri"/>
                <a:sym typeface="Calibri"/>
              </a:rPr>
              <a:t>Up to 14 days earlier warning</a:t>
            </a:r>
            <a:endParaRPr b="0" i="0" sz="1250" u="none" cap="none" strike="noStrike">
              <a:solidFill>
                <a:schemeClr val="dk1"/>
              </a:solidFill>
              <a:latin typeface="Calibri"/>
              <a:ea typeface="Calibri"/>
              <a:cs typeface="Calibri"/>
              <a:sym typeface="Calibri"/>
            </a:endParaRPr>
          </a:p>
        </p:txBody>
      </p:sp>
      <p:sp>
        <p:nvSpPr>
          <p:cNvPr id="136" name="Google Shape;136;p6"/>
          <p:cNvSpPr/>
          <p:nvPr/>
        </p:nvSpPr>
        <p:spPr>
          <a:xfrm>
            <a:off x="6263640" y="3273552"/>
            <a:ext cx="50292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030"/>
              <a:buFont typeface="Calibri"/>
              <a:buNone/>
            </a:pPr>
            <a:r>
              <a:rPr b="0" i="0" lang="en-US" sz="1030" u="none" cap="none" strike="noStrike">
                <a:solidFill>
                  <a:srgbClr val="C9D3E4"/>
                </a:solidFill>
                <a:latin typeface="Calibri"/>
                <a:ea typeface="Calibri"/>
                <a:cs typeface="Calibri"/>
                <a:sym typeface="Calibri"/>
              </a:rPr>
              <a:t>CVE-2026-32202: VulnCheck flagged exploitation the day it was disclosed — 14 days before CISA added it. CVE-2025-0108: 5 days earlier.</a:t>
            </a:r>
            <a:endParaRPr b="0" i="0" sz="1030" u="none" cap="none" strike="noStrike">
              <a:solidFill>
                <a:schemeClr val="dk1"/>
              </a:solidFill>
              <a:latin typeface="Calibri"/>
              <a:ea typeface="Calibri"/>
              <a:cs typeface="Calibri"/>
              <a:sym typeface="Calibri"/>
            </a:endParaRPr>
          </a:p>
        </p:txBody>
      </p:sp>
      <p:sp>
        <p:nvSpPr>
          <p:cNvPr id="137" name="Google Shape;137;p6"/>
          <p:cNvSpPr/>
          <p:nvPr/>
        </p:nvSpPr>
        <p:spPr>
          <a:xfrm>
            <a:off x="6035040" y="4032504"/>
            <a:ext cx="5486400" cy="1042416"/>
          </a:xfrm>
          <a:prstGeom prst="roundRect">
            <a:avLst>
              <a:gd fmla="val 5263" name="adj"/>
            </a:avLst>
          </a:prstGeom>
          <a:solidFill>
            <a:srgbClr val="141C2E"/>
          </a:solidFill>
          <a:ln cap="flat" cmpd="sng" w="12700">
            <a:solidFill>
              <a:srgbClr val="1A24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6263640" y="4123944"/>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D3A6"/>
              </a:buClr>
              <a:buSzPts val="1250"/>
              <a:buFont typeface="Calibri"/>
              <a:buNone/>
            </a:pPr>
            <a:r>
              <a:rPr b="1" i="0" lang="en-US" sz="1250" u="none" cap="none" strike="noStrike">
                <a:solidFill>
                  <a:srgbClr val="27D3A6"/>
                </a:solidFill>
                <a:latin typeface="Calibri"/>
                <a:ea typeface="Calibri"/>
                <a:cs typeface="Calibri"/>
                <a:sym typeface="Calibri"/>
              </a:rPr>
              <a:t>Named attribution, not a bare flag</a:t>
            </a:r>
            <a:endParaRPr b="0" i="0" sz="1250" u="none" cap="none" strike="noStrike">
              <a:solidFill>
                <a:schemeClr val="dk1"/>
              </a:solidFill>
              <a:latin typeface="Calibri"/>
              <a:ea typeface="Calibri"/>
              <a:cs typeface="Calibri"/>
              <a:sym typeface="Calibri"/>
            </a:endParaRPr>
          </a:p>
        </p:txBody>
      </p:sp>
      <p:sp>
        <p:nvSpPr>
          <p:cNvPr id="139" name="Google Shape;139;p6"/>
          <p:cNvSpPr/>
          <p:nvPr/>
        </p:nvSpPr>
        <p:spPr>
          <a:xfrm>
            <a:off x="6263640" y="4443984"/>
            <a:ext cx="50292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030"/>
              <a:buFont typeface="Calibri"/>
              <a:buNone/>
            </a:pPr>
            <a:r>
              <a:rPr b="0" i="0" lang="en-US" sz="1030" u="none" cap="none" strike="noStrike">
                <a:solidFill>
                  <a:srgbClr val="C9D3E4"/>
                </a:solidFill>
                <a:latin typeface="Calibri"/>
                <a:ea typeface="Calibri"/>
                <a:cs typeface="Calibri"/>
                <a:sym typeface="Calibri"/>
              </a:rPr>
              <a:t>RA World and Qilin ransomware, the Mora_001 cluster, and China/Iran-attributed activity — turning "is this exploited?" into "who's using it, and how urgent is the fix?"</a:t>
            </a:r>
            <a:endParaRPr b="0" i="0" sz="103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44" name="Shape 144"/>
        <p:cNvGrpSpPr/>
        <p:nvPr/>
      </p:nvGrpSpPr>
      <p:grpSpPr>
        <a:xfrm>
          <a:off x="0" y="0"/>
          <a:ext cx="0" cy="0"/>
          <a:chOff x="0" y="0"/>
          <a:chExt cx="0" cy="0"/>
        </a:xfrm>
      </p:grpSpPr>
      <p:sp>
        <p:nvSpPr>
          <p:cNvPr id="145" name="Google Shape;145;p7"/>
          <p:cNvSpPr/>
          <p:nvPr/>
        </p:nvSpPr>
        <p:spPr>
          <a:xfrm>
            <a:off x="640080" y="5029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62"/>
              </a:buClr>
              <a:buSzPts val="1200"/>
              <a:buFont typeface="Calibri"/>
              <a:buNone/>
            </a:pPr>
            <a:r>
              <a:rPr b="1" i="0" lang="en-US" sz="1200" u="none" cap="none" strike="noStrike">
                <a:solidFill>
                  <a:srgbClr val="1B7A62"/>
                </a:solidFill>
                <a:latin typeface="Calibri"/>
                <a:ea typeface="Calibri"/>
                <a:cs typeface="Calibri"/>
                <a:sym typeface="Calibri"/>
              </a:rPr>
              <a:t>NEXT STEPS</a:t>
            </a:r>
            <a:endParaRPr b="0" i="0" sz="1200" u="none" cap="none" strike="noStrike">
              <a:solidFill>
                <a:schemeClr val="dk1"/>
              </a:solidFill>
              <a:latin typeface="Calibri"/>
              <a:ea typeface="Calibri"/>
              <a:cs typeface="Calibri"/>
              <a:sym typeface="Calibri"/>
            </a:endParaRPr>
          </a:p>
        </p:txBody>
      </p:sp>
      <p:sp>
        <p:nvSpPr>
          <p:cNvPr id="146" name="Google Shape;146;p7"/>
          <p:cNvSpPr/>
          <p:nvPr/>
        </p:nvSpPr>
        <p:spPr>
          <a:xfrm>
            <a:off x="640080" y="822960"/>
            <a:ext cx="10515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2800"/>
              <a:buFont typeface="Cambria"/>
              <a:buNone/>
            </a:pPr>
            <a:r>
              <a:rPr b="1" i="0" lang="en-US" sz="2800" u="none" cap="none" strike="noStrike">
                <a:solidFill>
                  <a:srgbClr val="1B2333"/>
                </a:solidFill>
                <a:latin typeface="Cambria"/>
                <a:ea typeface="Cambria"/>
                <a:cs typeface="Cambria"/>
                <a:sym typeface="Cambria"/>
              </a:rPr>
              <a:t>Turning this into an ongoing program</a:t>
            </a:r>
            <a:endParaRPr b="0" i="0" sz="2800" u="none" cap="none" strike="noStrike">
              <a:solidFill>
                <a:schemeClr val="dk1"/>
              </a:solidFill>
              <a:latin typeface="Calibri"/>
              <a:ea typeface="Calibri"/>
              <a:cs typeface="Calibri"/>
              <a:sym typeface="Calibri"/>
            </a:endParaRPr>
          </a:p>
        </p:txBody>
      </p:sp>
      <p:sp>
        <p:nvSpPr>
          <p:cNvPr id="147" name="Google Shape;147;p7"/>
          <p:cNvSpPr/>
          <p:nvPr/>
        </p:nvSpPr>
        <p:spPr>
          <a:xfrm>
            <a:off x="640080" y="1828800"/>
            <a:ext cx="5166360" cy="1965960"/>
          </a:xfrm>
          <a:prstGeom prst="roundRect">
            <a:avLst>
              <a:gd fmla="val 3721"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914400" y="2103120"/>
            <a:ext cx="457200" cy="457200"/>
          </a:xfrm>
          <a:prstGeom prst="ellipse">
            <a:avLst/>
          </a:prstGeom>
          <a:solidFill>
            <a:srgbClr val="27D3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914400" y="21031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800"/>
              <a:buFont typeface="Calibri"/>
              <a:buNone/>
            </a:pPr>
            <a:r>
              <a:rPr b="1" i="0" lang="en-US" sz="1800" u="none" cap="none" strike="noStrike">
                <a:solidFill>
                  <a:srgbClr val="0B1220"/>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914400" y="2697480"/>
            <a:ext cx="4617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Expand coverage to the full asset inventory</a:t>
            </a:r>
            <a:endParaRPr b="0" i="0" sz="1400" u="none" cap="none" strike="noStrike">
              <a:solidFill>
                <a:schemeClr val="dk1"/>
              </a:solidFill>
              <a:latin typeface="Calibri"/>
              <a:ea typeface="Calibri"/>
              <a:cs typeface="Calibri"/>
              <a:sym typeface="Calibri"/>
            </a:endParaRPr>
          </a:p>
        </p:txBody>
      </p:sp>
      <p:sp>
        <p:nvSpPr>
          <p:cNvPr id="151" name="Google Shape;151;p7"/>
          <p:cNvSpPr/>
          <p:nvPr/>
        </p:nvSpPr>
        <p:spPr>
          <a:xfrm>
            <a:off x="914400" y="3154680"/>
            <a:ext cx="4617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150"/>
              <a:buFont typeface="Calibri"/>
              <a:buNone/>
            </a:pPr>
            <a:r>
              <a:rPr b="0" i="0" lang="en-US" sz="1150" u="none" cap="none" strike="noStrike">
                <a:solidFill>
                  <a:srgbClr val="5C6A85"/>
                </a:solidFill>
                <a:latin typeface="Calibri"/>
                <a:ea typeface="Calibri"/>
                <a:cs typeface="Calibri"/>
                <a:sym typeface="Calibri"/>
              </a:rPr>
              <a:t>This analysis covered 4 representative CPEs — the same pipeline scales to Acme's complete environment.</a:t>
            </a:r>
            <a:endParaRPr b="0" i="0" sz="1150" u="none" cap="none" strike="noStrike">
              <a:solidFill>
                <a:schemeClr val="dk1"/>
              </a:solidFill>
              <a:latin typeface="Calibri"/>
              <a:ea typeface="Calibri"/>
              <a:cs typeface="Calibri"/>
              <a:sym typeface="Calibri"/>
            </a:endParaRPr>
          </a:p>
        </p:txBody>
      </p:sp>
      <p:sp>
        <p:nvSpPr>
          <p:cNvPr id="152" name="Google Shape;152;p7"/>
          <p:cNvSpPr/>
          <p:nvPr/>
        </p:nvSpPr>
        <p:spPr>
          <a:xfrm>
            <a:off x="6355080" y="1828800"/>
            <a:ext cx="5166360" cy="1965960"/>
          </a:xfrm>
          <a:prstGeom prst="roundRect">
            <a:avLst>
              <a:gd fmla="val 3721"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6629400" y="2103120"/>
            <a:ext cx="457200" cy="457200"/>
          </a:xfrm>
          <a:prstGeom prst="ellipse">
            <a:avLst/>
          </a:prstGeom>
          <a:solidFill>
            <a:srgbClr val="27D3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6629400" y="21031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800"/>
              <a:buFont typeface="Calibri"/>
              <a:buNone/>
            </a:pPr>
            <a:r>
              <a:rPr b="1" i="0" lang="en-US" sz="1800" u="none" cap="none" strike="noStrike">
                <a:solidFill>
                  <a:srgbClr val="0B1220"/>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6629400" y="2697480"/>
            <a:ext cx="4617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Integrate the VulnCheck API into existing workflows</a:t>
            </a:r>
            <a:endParaRPr b="0" i="0" sz="1400" u="none" cap="none" strike="noStrike">
              <a:solidFill>
                <a:schemeClr val="dk1"/>
              </a:solidFill>
              <a:latin typeface="Calibri"/>
              <a:ea typeface="Calibri"/>
              <a:cs typeface="Calibri"/>
              <a:sym typeface="Calibri"/>
            </a:endParaRPr>
          </a:p>
        </p:txBody>
      </p:sp>
      <p:sp>
        <p:nvSpPr>
          <p:cNvPr id="156" name="Google Shape;156;p7"/>
          <p:cNvSpPr/>
          <p:nvPr/>
        </p:nvSpPr>
        <p:spPr>
          <a:xfrm>
            <a:off x="6629400" y="3154680"/>
            <a:ext cx="4617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150"/>
              <a:buFont typeface="Calibri"/>
              <a:buNone/>
            </a:pPr>
            <a:r>
              <a:rPr b="0" i="0" lang="en-US" sz="1150" u="none" cap="none" strike="noStrike">
                <a:solidFill>
                  <a:srgbClr val="5C6A85"/>
                </a:solidFill>
                <a:latin typeface="Calibri"/>
                <a:ea typeface="Calibri"/>
                <a:cs typeface="Calibri"/>
                <a:sym typeface="Calibri"/>
              </a:rPr>
              <a:t>Feed prioritized findings directly into Acme's ticketing or SOAR platform for continuous, automated triage.</a:t>
            </a:r>
            <a:endParaRPr b="0" i="0" sz="1150" u="none" cap="none" strike="noStrike">
              <a:solidFill>
                <a:schemeClr val="dk1"/>
              </a:solidFill>
              <a:latin typeface="Calibri"/>
              <a:ea typeface="Calibri"/>
              <a:cs typeface="Calibri"/>
              <a:sym typeface="Calibri"/>
            </a:endParaRPr>
          </a:p>
        </p:txBody>
      </p:sp>
      <p:sp>
        <p:nvSpPr>
          <p:cNvPr id="157" name="Google Shape;157;p7"/>
          <p:cNvSpPr/>
          <p:nvPr/>
        </p:nvSpPr>
        <p:spPr>
          <a:xfrm>
            <a:off x="640080" y="4069080"/>
            <a:ext cx="5166360" cy="1965960"/>
          </a:xfrm>
          <a:prstGeom prst="roundRect">
            <a:avLst>
              <a:gd fmla="val 3721"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914400" y="4343400"/>
            <a:ext cx="457200" cy="457200"/>
          </a:xfrm>
          <a:prstGeom prst="ellipse">
            <a:avLst/>
          </a:prstGeom>
          <a:solidFill>
            <a:srgbClr val="27D3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914400" y="43434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800"/>
              <a:buFont typeface="Calibri"/>
              <a:buNone/>
            </a:pPr>
            <a:r>
              <a:rPr b="1" i="0" lang="en-US" sz="1800" u="none" cap="none" strike="noStrike">
                <a:solidFill>
                  <a:srgbClr val="0B1220"/>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160" name="Google Shape;160;p7"/>
          <p:cNvSpPr/>
          <p:nvPr/>
        </p:nvSpPr>
        <p:spPr>
          <a:xfrm>
            <a:off x="914400" y="4937760"/>
            <a:ext cx="4617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Track exploitation timelines, not just status</a:t>
            </a:r>
            <a:endParaRPr b="0" i="0" sz="1400" u="none" cap="none" strike="noStrike">
              <a:solidFill>
                <a:schemeClr val="dk1"/>
              </a:solidFill>
              <a:latin typeface="Calibri"/>
              <a:ea typeface="Calibri"/>
              <a:cs typeface="Calibri"/>
              <a:sym typeface="Calibri"/>
            </a:endParaRPr>
          </a:p>
        </p:txBody>
      </p:sp>
      <p:sp>
        <p:nvSpPr>
          <p:cNvPr id="161" name="Google Shape;161;p7"/>
          <p:cNvSpPr/>
          <p:nvPr/>
        </p:nvSpPr>
        <p:spPr>
          <a:xfrm>
            <a:off x="914400" y="5394960"/>
            <a:ext cx="4617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150"/>
              <a:buFont typeface="Calibri"/>
              <a:buNone/>
            </a:pPr>
            <a:r>
              <a:rPr b="0" i="0" lang="en-US" sz="1150" u="none" cap="none" strike="noStrike">
                <a:solidFill>
                  <a:srgbClr val="5C6A85"/>
                </a:solidFill>
                <a:latin typeface="Calibri"/>
                <a:ea typeface="Calibri"/>
                <a:cs typeface="Calibri"/>
                <a:sym typeface="Calibri"/>
              </a:rPr>
              <a:t>VulnCheck's timeline data (first exploit, weaponization, KEV date) lets Acme measure and improve its own time-to-patch against real attacker timelines.</a:t>
            </a:r>
            <a:endParaRPr b="0" i="0" sz="1150" u="none" cap="none" strike="noStrike">
              <a:solidFill>
                <a:schemeClr val="dk1"/>
              </a:solidFill>
              <a:latin typeface="Calibri"/>
              <a:ea typeface="Calibri"/>
              <a:cs typeface="Calibri"/>
              <a:sym typeface="Calibri"/>
            </a:endParaRPr>
          </a:p>
        </p:txBody>
      </p:sp>
      <p:sp>
        <p:nvSpPr>
          <p:cNvPr id="162" name="Google Shape;162;p7"/>
          <p:cNvSpPr/>
          <p:nvPr/>
        </p:nvSpPr>
        <p:spPr>
          <a:xfrm>
            <a:off x="6355080" y="4069080"/>
            <a:ext cx="5166360" cy="1965960"/>
          </a:xfrm>
          <a:prstGeom prst="roundRect">
            <a:avLst>
              <a:gd fmla="val 3721" name="adj"/>
            </a:avLst>
          </a:prstGeom>
          <a:solidFill>
            <a:srgbClr val="FFFFFF"/>
          </a:solidFill>
          <a:ln cap="flat" cmpd="sng" w="12700">
            <a:solidFill>
              <a:srgbClr val="DD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6629400" y="4343400"/>
            <a:ext cx="457200" cy="457200"/>
          </a:xfrm>
          <a:prstGeom prst="ellipse">
            <a:avLst/>
          </a:prstGeom>
          <a:solidFill>
            <a:srgbClr val="27D3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6629400" y="43434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220"/>
              </a:buClr>
              <a:buSzPts val="1800"/>
              <a:buFont typeface="Calibri"/>
              <a:buNone/>
            </a:pPr>
            <a:r>
              <a:rPr b="1" i="0" lang="en-US" sz="1800" u="none" cap="none" strike="noStrike">
                <a:solidFill>
                  <a:srgbClr val="0B1220"/>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165" name="Google Shape;165;p7"/>
          <p:cNvSpPr/>
          <p:nvPr/>
        </p:nvSpPr>
        <p:spPr>
          <a:xfrm>
            <a:off x="6629400" y="4937760"/>
            <a:ext cx="4617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333"/>
              </a:buClr>
              <a:buSzPts val="1400"/>
              <a:buFont typeface="Calibri"/>
              <a:buNone/>
            </a:pPr>
            <a:r>
              <a:rPr b="1" i="0" lang="en-US" sz="1400" u="none" cap="none" strike="noStrike">
                <a:solidFill>
                  <a:srgbClr val="1B2333"/>
                </a:solidFill>
                <a:latin typeface="Calibri"/>
                <a:ea typeface="Calibri"/>
                <a:cs typeface="Calibri"/>
                <a:sym typeface="Calibri"/>
              </a:rPr>
              <a:t>Move from point-in-time to continuous assessment</a:t>
            </a:r>
            <a:endParaRPr b="0" i="0" sz="1400" u="none" cap="none" strike="noStrike">
              <a:solidFill>
                <a:schemeClr val="dk1"/>
              </a:solidFill>
              <a:latin typeface="Calibri"/>
              <a:ea typeface="Calibri"/>
              <a:cs typeface="Calibri"/>
              <a:sym typeface="Calibri"/>
            </a:endParaRPr>
          </a:p>
        </p:txBody>
      </p:sp>
      <p:sp>
        <p:nvSpPr>
          <p:cNvPr id="166" name="Google Shape;166;p7"/>
          <p:cNvSpPr/>
          <p:nvPr/>
        </p:nvSpPr>
        <p:spPr>
          <a:xfrm>
            <a:off x="6629400" y="5394960"/>
            <a:ext cx="4617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A85"/>
              </a:buClr>
              <a:buSzPts val="1150"/>
              <a:buFont typeface="Calibri"/>
              <a:buNone/>
            </a:pPr>
            <a:r>
              <a:rPr b="0" i="0" lang="en-US" sz="1150" u="none" cap="none" strike="noStrike">
                <a:solidFill>
                  <a:srgbClr val="5C6A85"/>
                </a:solidFill>
                <a:latin typeface="Calibri"/>
                <a:ea typeface="Calibri"/>
                <a:cs typeface="Calibri"/>
                <a:sym typeface="Calibri"/>
              </a:rPr>
              <a:t>Establish a recurring cadence so prioritization always reflects the current threat landscape.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71" name="Shape 171"/>
        <p:cNvGrpSpPr/>
        <p:nvPr/>
      </p:nvGrpSpPr>
      <p:grpSpPr>
        <a:xfrm>
          <a:off x="0" y="0"/>
          <a:ext cx="0" cy="0"/>
          <a:chOff x="0" y="0"/>
          <a:chExt cx="0" cy="0"/>
        </a:xfrm>
      </p:grpSpPr>
      <p:sp>
        <p:nvSpPr>
          <p:cNvPr id="172" name="Google Shape;172;p8"/>
          <p:cNvSpPr/>
          <p:nvPr/>
        </p:nvSpPr>
        <p:spPr>
          <a:xfrm>
            <a:off x="640080" y="274320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Questions?</a:t>
            </a:r>
            <a:endParaRPr b="0" i="0" sz="4000" u="none" cap="none" strike="noStrike">
              <a:solidFill>
                <a:schemeClr val="dk1"/>
              </a:solidFill>
              <a:latin typeface="Calibri"/>
              <a:ea typeface="Calibri"/>
              <a:cs typeface="Calibri"/>
              <a:sym typeface="Calibri"/>
            </a:endParaRPr>
          </a:p>
        </p:txBody>
      </p:sp>
      <p:sp>
        <p:nvSpPr>
          <p:cNvPr id="173" name="Google Shape;173;p8"/>
          <p:cNvSpPr/>
          <p:nvPr/>
        </p:nvSpPr>
        <p:spPr>
          <a:xfrm>
            <a:off x="640080" y="365760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4"/>
              </a:buClr>
              <a:buSzPts val="1400"/>
              <a:buFont typeface="Calibri"/>
              <a:buNone/>
            </a:pPr>
            <a:r>
              <a:rPr lang="en-US">
                <a:solidFill>
                  <a:srgbClr val="C9D3E4"/>
                </a:solidFill>
                <a:latin typeface="Calibri"/>
                <a:ea typeface="Calibri"/>
                <a:cs typeface="Calibri"/>
                <a:sym typeface="Calibri"/>
              </a:rPr>
              <a:t>Ashish Sharma</a:t>
            </a:r>
            <a:r>
              <a:rPr b="0" i="0" lang="en-US" sz="1400" u="none" cap="none" strike="noStrike">
                <a:solidFill>
                  <a:srgbClr val="C9D3E4"/>
                </a:solidFill>
                <a:latin typeface="Calibri"/>
                <a:ea typeface="Calibri"/>
                <a:cs typeface="Calibri"/>
                <a:sym typeface="Calibri"/>
              </a:rPr>
              <a:t> ·  Senior Sales Engineer Candidate  ·  VulnCheck</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2026-08-18T23:04:20Z</dcterms:created>
  <dc:creator>PptxGenJS</dc:creator>
</cp:coreProperties>
</file>